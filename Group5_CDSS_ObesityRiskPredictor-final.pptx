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60" r:id="rId4"/>
    <p:sldId id="263" r:id="rId5"/>
    <p:sldId id="261" r:id="rId6"/>
    <p:sldId id="265" r:id="rId7"/>
    <p:sldId id="266" r:id="rId8"/>
    <p:sldId id="268" r:id="rId9"/>
    <p:sldId id="270" r:id="rId10"/>
    <p:sldId id="271" r:id="rId11"/>
    <p:sldId id="289" r:id="rId12"/>
    <p:sldId id="272" r:id="rId13"/>
    <p:sldId id="280" r:id="rId14"/>
    <p:sldId id="281" r:id="rId15"/>
    <p:sldId id="282" r:id="rId16"/>
    <p:sldId id="283" r:id="rId17"/>
    <p:sldId id="284" r:id="rId18"/>
    <p:sldId id="273" r:id="rId19"/>
    <p:sldId id="275" r:id="rId20"/>
    <p:sldId id="285" r:id="rId21"/>
    <p:sldId id="286" r:id="rId22"/>
    <p:sldId id="288" r:id="rId23"/>
    <p:sldId id="290" r:id="rId24"/>
    <p:sldId id="276" r:id="rId25"/>
    <p:sldId id="277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52" y="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A55485-D216-4CC7-B54E-6C01F123428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E29667-088C-4887-944E-4056EE81D0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CDSS can integrate multiple risk factors and provide consistent, evidence-based recommendations [2].</a:t>
          </a:r>
        </a:p>
      </dgm:t>
    </dgm:pt>
    <dgm:pt modelId="{CB53DB5F-873B-4480-BBAE-C2175DD78837}" type="parTrans" cxnId="{ECFB7651-F31D-475C-AB2A-A35139883FAE}">
      <dgm:prSet/>
      <dgm:spPr/>
      <dgm:t>
        <a:bodyPr/>
        <a:lstStyle/>
        <a:p>
          <a:endParaRPr lang="en-US"/>
        </a:p>
      </dgm:t>
    </dgm:pt>
    <dgm:pt modelId="{F13E6A50-A759-43E5-8809-E59E195B6BB3}" type="sibTrans" cxnId="{ECFB7651-F31D-475C-AB2A-A35139883FAE}">
      <dgm:prSet/>
      <dgm:spPr/>
      <dgm:t>
        <a:bodyPr/>
        <a:lstStyle/>
        <a:p>
          <a:endParaRPr lang="en-US"/>
        </a:p>
      </dgm:t>
    </dgm:pt>
    <dgm:pt modelId="{CA8D0FFE-60F0-40B0-8570-C1945B14A6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AI-driven CDSSs can augment human judgement in diagnosis, risk prediction and treatment planning [2,8].</a:t>
          </a:r>
        </a:p>
      </dgm:t>
    </dgm:pt>
    <dgm:pt modelId="{7CE1FF36-0EC7-42A2-8539-7ED0DC21D061}" type="parTrans" cxnId="{29D5E826-3B36-4E24-B9D7-9723ADC23872}">
      <dgm:prSet/>
      <dgm:spPr/>
      <dgm:t>
        <a:bodyPr/>
        <a:lstStyle/>
        <a:p>
          <a:endParaRPr lang="en-US"/>
        </a:p>
      </dgm:t>
    </dgm:pt>
    <dgm:pt modelId="{0541785F-9E22-4FFB-9940-DBD3540876B8}" type="sibTrans" cxnId="{29D5E826-3B36-4E24-B9D7-9723ADC23872}">
      <dgm:prSet/>
      <dgm:spPr/>
      <dgm:t>
        <a:bodyPr/>
        <a:lstStyle/>
        <a:p>
          <a:endParaRPr lang="en-US"/>
        </a:p>
      </dgm:t>
    </dgm:pt>
    <dgm:pt modelId="{BEF94A2D-21DC-4834-B5D8-2D5F3637BE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Recent work shows strong performance of ML for obesity risk prediction and monitoring [3,7].</a:t>
          </a:r>
        </a:p>
      </dgm:t>
    </dgm:pt>
    <dgm:pt modelId="{266D1B33-EC74-44A1-AD5A-66208BE5EF64}" type="parTrans" cxnId="{0AE3EBA5-3153-46C9-B711-8DE7790BC39C}">
      <dgm:prSet/>
      <dgm:spPr/>
      <dgm:t>
        <a:bodyPr/>
        <a:lstStyle/>
        <a:p>
          <a:endParaRPr lang="en-US"/>
        </a:p>
      </dgm:t>
    </dgm:pt>
    <dgm:pt modelId="{C7FF98E1-8E31-41E8-B51B-2F7A2F130754}" type="sibTrans" cxnId="{0AE3EBA5-3153-46C9-B711-8DE7790BC39C}">
      <dgm:prSet/>
      <dgm:spPr/>
      <dgm:t>
        <a:bodyPr/>
        <a:lstStyle/>
        <a:p>
          <a:endParaRPr lang="en-US"/>
        </a:p>
      </dgm:t>
    </dgm:pt>
    <dgm:pt modelId="{62C4A0CE-4DB4-4FF1-9256-6B66A505F4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However, many models are “black boxes”, limiting clinician trust and adoption [4,5,7].</a:t>
          </a:r>
        </a:p>
      </dgm:t>
    </dgm:pt>
    <dgm:pt modelId="{49C8BB17-F4C4-4949-8B9B-1B7D87285510}" type="parTrans" cxnId="{9D0114DE-9AE2-444F-BC12-239572160A47}">
      <dgm:prSet/>
      <dgm:spPr/>
      <dgm:t>
        <a:bodyPr/>
        <a:lstStyle/>
        <a:p>
          <a:endParaRPr lang="en-US"/>
        </a:p>
      </dgm:t>
    </dgm:pt>
    <dgm:pt modelId="{9E484E98-5A7A-4FA0-A51D-D627EE673968}" type="sibTrans" cxnId="{9D0114DE-9AE2-444F-BC12-239572160A47}">
      <dgm:prSet/>
      <dgm:spPr/>
      <dgm:t>
        <a:bodyPr/>
        <a:lstStyle/>
        <a:p>
          <a:endParaRPr lang="en-US"/>
        </a:p>
      </dgm:t>
    </dgm:pt>
    <dgm:pt modelId="{2E3220FA-3495-4768-966E-BEE2B82ACC7B}" type="pres">
      <dgm:prSet presAssocID="{C4A55485-D216-4CC7-B54E-6C01F123428C}" presName="root" presStyleCnt="0">
        <dgm:presLayoutVars>
          <dgm:dir/>
          <dgm:resizeHandles val="exact"/>
        </dgm:presLayoutVars>
      </dgm:prSet>
      <dgm:spPr/>
    </dgm:pt>
    <dgm:pt modelId="{CE4473DF-2AAA-4529-9491-A6284DD74503}" type="pres">
      <dgm:prSet presAssocID="{DCE29667-088C-4887-944E-4056EE81D017}" presName="compNode" presStyleCnt="0"/>
      <dgm:spPr/>
    </dgm:pt>
    <dgm:pt modelId="{63BD42F8-4FE7-4377-A116-F97A38B09A7A}" type="pres">
      <dgm:prSet presAssocID="{DCE29667-088C-4887-944E-4056EE81D017}" presName="bgRect" presStyleLbl="bgShp" presStyleIdx="0" presStyleCnt="4"/>
      <dgm:spPr/>
    </dgm:pt>
    <dgm:pt modelId="{314C97FE-DA93-4387-970A-630EB27DACFB}" type="pres">
      <dgm:prSet presAssocID="{DCE29667-088C-4887-944E-4056EE81D01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D14CDFE1-EDAC-4925-B8F3-1421977A07A1}" type="pres">
      <dgm:prSet presAssocID="{DCE29667-088C-4887-944E-4056EE81D017}" presName="spaceRect" presStyleCnt="0"/>
      <dgm:spPr/>
    </dgm:pt>
    <dgm:pt modelId="{53658F56-7587-4B43-9671-C4FDC89D78EB}" type="pres">
      <dgm:prSet presAssocID="{DCE29667-088C-4887-944E-4056EE81D017}" presName="parTx" presStyleLbl="revTx" presStyleIdx="0" presStyleCnt="4">
        <dgm:presLayoutVars>
          <dgm:chMax val="0"/>
          <dgm:chPref val="0"/>
        </dgm:presLayoutVars>
      </dgm:prSet>
      <dgm:spPr/>
    </dgm:pt>
    <dgm:pt modelId="{FF8F2467-8D49-4C53-84EC-0BBBF8D54FAC}" type="pres">
      <dgm:prSet presAssocID="{F13E6A50-A759-43E5-8809-E59E195B6BB3}" presName="sibTrans" presStyleCnt="0"/>
      <dgm:spPr/>
    </dgm:pt>
    <dgm:pt modelId="{C6088019-CA72-46AF-B9C6-3AEA0690B89C}" type="pres">
      <dgm:prSet presAssocID="{CA8D0FFE-60F0-40B0-8570-C1945B14A6B1}" presName="compNode" presStyleCnt="0"/>
      <dgm:spPr/>
    </dgm:pt>
    <dgm:pt modelId="{B5971356-2FEB-478B-8779-CAC575B1EE26}" type="pres">
      <dgm:prSet presAssocID="{CA8D0FFE-60F0-40B0-8570-C1945B14A6B1}" presName="bgRect" presStyleLbl="bgShp" presStyleIdx="1" presStyleCnt="4"/>
      <dgm:spPr/>
    </dgm:pt>
    <dgm:pt modelId="{5BD7AD3D-F10B-4B7C-B10D-C4799734CF30}" type="pres">
      <dgm:prSet presAssocID="{CA8D0FFE-60F0-40B0-8570-C1945B14A6B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548B1F7-7B9A-4742-8725-C633F8AFEC20}" type="pres">
      <dgm:prSet presAssocID="{CA8D0FFE-60F0-40B0-8570-C1945B14A6B1}" presName="spaceRect" presStyleCnt="0"/>
      <dgm:spPr/>
    </dgm:pt>
    <dgm:pt modelId="{A069D944-E3FB-418A-A77B-9203211AA10F}" type="pres">
      <dgm:prSet presAssocID="{CA8D0FFE-60F0-40B0-8570-C1945B14A6B1}" presName="parTx" presStyleLbl="revTx" presStyleIdx="1" presStyleCnt="4">
        <dgm:presLayoutVars>
          <dgm:chMax val="0"/>
          <dgm:chPref val="0"/>
        </dgm:presLayoutVars>
      </dgm:prSet>
      <dgm:spPr/>
    </dgm:pt>
    <dgm:pt modelId="{DCF0DAD1-6238-4369-9E6E-217EE2CE0CDF}" type="pres">
      <dgm:prSet presAssocID="{0541785F-9E22-4FFB-9940-DBD3540876B8}" presName="sibTrans" presStyleCnt="0"/>
      <dgm:spPr/>
    </dgm:pt>
    <dgm:pt modelId="{07560124-6061-42BF-8E89-04728F4D2C90}" type="pres">
      <dgm:prSet presAssocID="{BEF94A2D-21DC-4834-B5D8-2D5F3637BE22}" presName="compNode" presStyleCnt="0"/>
      <dgm:spPr/>
    </dgm:pt>
    <dgm:pt modelId="{71B092AD-259E-43E5-82D2-911A26A69665}" type="pres">
      <dgm:prSet presAssocID="{BEF94A2D-21DC-4834-B5D8-2D5F3637BE22}" presName="bgRect" presStyleLbl="bgShp" presStyleIdx="2" presStyleCnt="4"/>
      <dgm:spPr/>
    </dgm:pt>
    <dgm:pt modelId="{E7CC464F-4590-457E-AE76-0C4C090F21F8}" type="pres">
      <dgm:prSet presAssocID="{BEF94A2D-21DC-4834-B5D8-2D5F3637BE2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F23DB1DD-82E9-4F38-864D-19E212626E1B}" type="pres">
      <dgm:prSet presAssocID="{BEF94A2D-21DC-4834-B5D8-2D5F3637BE22}" presName="spaceRect" presStyleCnt="0"/>
      <dgm:spPr/>
    </dgm:pt>
    <dgm:pt modelId="{0050FEFF-F892-4BB5-8D51-1A4E5E740A9D}" type="pres">
      <dgm:prSet presAssocID="{BEF94A2D-21DC-4834-B5D8-2D5F3637BE22}" presName="parTx" presStyleLbl="revTx" presStyleIdx="2" presStyleCnt="4">
        <dgm:presLayoutVars>
          <dgm:chMax val="0"/>
          <dgm:chPref val="0"/>
        </dgm:presLayoutVars>
      </dgm:prSet>
      <dgm:spPr/>
    </dgm:pt>
    <dgm:pt modelId="{1A7CB1CF-78D1-4CCE-BEE6-AC74A5089D1D}" type="pres">
      <dgm:prSet presAssocID="{C7FF98E1-8E31-41E8-B51B-2F7A2F130754}" presName="sibTrans" presStyleCnt="0"/>
      <dgm:spPr/>
    </dgm:pt>
    <dgm:pt modelId="{7BB53D67-7F92-459D-A07C-D62B9ED400E6}" type="pres">
      <dgm:prSet presAssocID="{62C4A0CE-4DB4-4FF1-9256-6B66A505F43F}" presName="compNode" presStyleCnt="0"/>
      <dgm:spPr/>
    </dgm:pt>
    <dgm:pt modelId="{AC3F8633-8368-4334-BE38-BEEC22A6AC08}" type="pres">
      <dgm:prSet presAssocID="{62C4A0CE-4DB4-4FF1-9256-6B66A505F43F}" presName="bgRect" presStyleLbl="bgShp" presStyleIdx="3" presStyleCnt="4"/>
      <dgm:spPr/>
    </dgm:pt>
    <dgm:pt modelId="{FC396679-54FE-44E8-8FE5-ED0E9125E323}" type="pres">
      <dgm:prSet presAssocID="{62C4A0CE-4DB4-4FF1-9256-6B66A505F43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C1781096-A49E-4282-9CD3-46D42A8109D4}" type="pres">
      <dgm:prSet presAssocID="{62C4A0CE-4DB4-4FF1-9256-6B66A505F43F}" presName="spaceRect" presStyleCnt="0"/>
      <dgm:spPr/>
    </dgm:pt>
    <dgm:pt modelId="{6560F48E-26C8-4CF7-BF4D-244D41CCD960}" type="pres">
      <dgm:prSet presAssocID="{62C4A0CE-4DB4-4FF1-9256-6B66A505F43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9D5E826-3B36-4E24-B9D7-9723ADC23872}" srcId="{C4A55485-D216-4CC7-B54E-6C01F123428C}" destId="{CA8D0FFE-60F0-40B0-8570-C1945B14A6B1}" srcOrd="1" destOrd="0" parTransId="{7CE1FF36-0EC7-42A2-8539-7ED0DC21D061}" sibTransId="{0541785F-9E22-4FFB-9940-DBD3540876B8}"/>
    <dgm:cxn modelId="{ECFB7651-F31D-475C-AB2A-A35139883FAE}" srcId="{C4A55485-D216-4CC7-B54E-6C01F123428C}" destId="{DCE29667-088C-4887-944E-4056EE81D017}" srcOrd="0" destOrd="0" parTransId="{CB53DB5F-873B-4480-BBAE-C2175DD78837}" sibTransId="{F13E6A50-A759-43E5-8809-E59E195B6BB3}"/>
    <dgm:cxn modelId="{389E2882-E00B-4ABC-8B5E-DB5EA001CE9F}" type="presOf" srcId="{BEF94A2D-21DC-4834-B5D8-2D5F3637BE22}" destId="{0050FEFF-F892-4BB5-8D51-1A4E5E740A9D}" srcOrd="0" destOrd="0" presId="urn:microsoft.com/office/officeart/2018/2/layout/IconVerticalSolidList"/>
    <dgm:cxn modelId="{5756AA8F-12D9-4938-B450-02D6BA70152A}" type="presOf" srcId="{DCE29667-088C-4887-944E-4056EE81D017}" destId="{53658F56-7587-4B43-9671-C4FDC89D78EB}" srcOrd="0" destOrd="0" presId="urn:microsoft.com/office/officeart/2018/2/layout/IconVerticalSolidList"/>
    <dgm:cxn modelId="{913EBE96-3320-4D9C-B893-A2A6B1B951F8}" type="presOf" srcId="{CA8D0FFE-60F0-40B0-8570-C1945B14A6B1}" destId="{A069D944-E3FB-418A-A77B-9203211AA10F}" srcOrd="0" destOrd="0" presId="urn:microsoft.com/office/officeart/2018/2/layout/IconVerticalSolidList"/>
    <dgm:cxn modelId="{DCF98998-6AB1-4797-8D9E-AF018D4CBB96}" type="presOf" srcId="{62C4A0CE-4DB4-4FF1-9256-6B66A505F43F}" destId="{6560F48E-26C8-4CF7-BF4D-244D41CCD960}" srcOrd="0" destOrd="0" presId="urn:microsoft.com/office/officeart/2018/2/layout/IconVerticalSolidList"/>
    <dgm:cxn modelId="{0AE3EBA5-3153-46C9-B711-8DE7790BC39C}" srcId="{C4A55485-D216-4CC7-B54E-6C01F123428C}" destId="{BEF94A2D-21DC-4834-B5D8-2D5F3637BE22}" srcOrd="2" destOrd="0" parTransId="{266D1B33-EC74-44A1-AD5A-66208BE5EF64}" sibTransId="{C7FF98E1-8E31-41E8-B51B-2F7A2F130754}"/>
    <dgm:cxn modelId="{EEFC9DA7-CE59-4FA0-B134-0C2A385F351B}" type="presOf" srcId="{C4A55485-D216-4CC7-B54E-6C01F123428C}" destId="{2E3220FA-3495-4768-966E-BEE2B82ACC7B}" srcOrd="0" destOrd="0" presId="urn:microsoft.com/office/officeart/2018/2/layout/IconVerticalSolidList"/>
    <dgm:cxn modelId="{9D0114DE-9AE2-444F-BC12-239572160A47}" srcId="{C4A55485-D216-4CC7-B54E-6C01F123428C}" destId="{62C4A0CE-4DB4-4FF1-9256-6B66A505F43F}" srcOrd="3" destOrd="0" parTransId="{49C8BB17-F4C4-4949-8B9B-1B7D87285510}" sibTransId="{9E484E98-5A7A-4FA0-A51D-D627EE673968}"/>
    <dgm:cxn modelId="{7394EFDC-6607-4037-8F1F-27148C1276BA}" type="presParOf" srcId="{2E3220FA-3495-4768-966E-BEE2B82ACC7B}" destId="{CE4473DF-2AAA-4529-9491-A6284DD74503}" srcOrd="0" destOrd="0" presId="urn:microsoft.com/office/officeart/2018/2/layout/IconVerticalSolidList"/>
    <dgm:cxn modelId="{131A0441-8B3F-489F-8913-4A14BB66B19F}" type="presParOf" srcId="{CE4473DF-2AAA-4529-9491-A6284DD74503}" destId="{63BD42F8-4FE7-4377-A116-F97A38B09A7A}" srcOrd="0" destOrd="0" presId="urn:microsoft.com/office/officeart/2018/2/layout/IconVerticalSolidList"/>
    <dgm:cxn modelId="{92AF1E57-41B3-4128-889F-706DD4117E0E}" type="presParOf" srcId="{CE4473DF-2AAA-4529-9491-A6284DD74503}" destId="{314C97FE-DA93-4387-970A-630EB27DACFB}" srcOrd="1" destOrd="0" presId="urn:microsoft.com/office/officeart/2018/2/layout/IconVerticalSolidList"/>
    <dgm:cxn modelId="{BFF71546-826B-40E7-9903-CC5057C11E90}" type="presParOf" srcId="{CE4473DF-2AAA-4529-9491-A6284DD74503}" destId="{D14CDFE1-EDAC-4925-B8F3-1421977A07A1}" srcOrd="2" destOrd="0" presId="urn:microsoft.com/office/officeart/2018/2/layout/IconVerticalSolidList"/>
    <dgm:cxn modelId="{974B9031-07C8-4E56-8067-C1C1B4AF9985}" type="presParOf" srcId="{CE4473DF-2AAA-4529-9491-A6284DD74503}" destId="{53658F56-7587-4B43-9671-C4FDC89D78EB}" srcOrd="3" destOrd="0" presId="urn:microsoft.com/office/officeart/2018/2/layout/IconVerticalSolidList"/>
    <dgm:cxn modelId="{64E89421-8B91-46E9-9552-EE13BF3B57A4}" type="presParOf" srcId="{2E3220FA-3495-4768-966E-BEE2B82ACC7B}" destId="{FF8F2467-8D49-4C53-84EC-0BBBF8D54FAC}" srcOrd="1" destOrd="0" presId="urn:microsoft.com/office/officeart/2018/2/layout/IconVerticalSolidList"/>
    <dgm:cxn modelId="{E163172F-C3C7-44F7-94AA-756340CE2798}" type="presParOf" srcId="{2E3220FA-3495-4768-966E-BEE2B82ACC7B}" destId="{C6088019-CA72-46AF-B9C6-3AEA0690B89C}" srcOrd="2" destOrd="0" presId="urn:microsoft.com/office/officeart/2018/2/layout/IconVerticalSolidList"/>
    <dgm:cxn modelId="{DE4A6C59-982A-403F-B466-A28B2E132A2E}" type="presParOf" srcId="{C6088019-CA72-46AF-B9C6-3AEA0690B89C}" destId="{B5971356-2FEB-478B-8779-CAC575B1EE26}" srcOrd="0" destOrd="0" presId="urn:microsoft.com/office/officeart/2018/2/layout/IconVerticalSolidList"/>
    <dgm:cxn modelId="{45ADF2A0-F3BA-4C8E-BC92-4E5446481858}" type="presParOf" srcId="{C6088019-CA72-46AF-B9C6-3AEA0690B89C}" destId="{5BD7AD3D-F10B-4B7C-B10D-C4799734CF30}" srcOrd="1" destOrd="0" presId="urn:microsoft.com/office/officeart/2018/2/layout/IconVerticalSolidList"/>
    <dgm:cxn modelId="{2286FDC9-4468-4265-BC1B-90C53C9BEA98}" type="presParOf" srcId="{C6088019-CA72-46AF-B9C6-3AEA0690B89C}" destId="{8548B1F7-7B9A-4742-8725-C633F8AFEC20}" srcOrd="2" destOrd="0" presId="urn:microsoft.com/office/officeart/2018/2/layout/IconVerticalSolidList"/>
    <dgm:cxn modelId="{953941D7-51C9-4D3D-AA08-6FE49EABE6A1}" type="presParOf" srcId="{C6088019-CA72-46AF-B9C6-3AEA0690B89C}" destId="{A069D944-E3FB-418A-A77B-9203211AA10F}" srcOrd="3" destOrd="0" presId="urn:microsoft.com/office/officeart/2018/2/layout/IconVerticalSolidList"/>
    <dgm:cxn modelId="{BA632E2F-1584-4368-A6CD-3099751CBCFF}" type="presParOf" srcId="{2E3220FA-3495-4768-966E-BEE2B82ACC7B}" destId="{DCF0DAD1-6238-4369-9E6E-217EE2CE0CDF}" srcOrd="3" destOrd="0" presId="urn:microsoft.com/office/officeart/2018/2/layout/IconVerticalSolidList"/>
    <dgm:cxn modelId="{E99807BD-DC72-4F10-9FF8-1DD3AD8B5E15}" type="presParOf" srcId="{2E3220FA-3495-4768-966E-BEE2B82ACC7B}" destId="{07560124-6061-42BF-8E89-04728F4D2C90}" srcOrd="4" destOrd="0" presId="urn:microsoft.com/office/officeart/2018/2/layout/IconVerticalSolidList"/>
    <dgm:cxn modelId="{DEDB54A3-BFC1-407F-A31E-B43069748F04}" type="presParOf" srcId="{07560124-6061-42BF-8E89-04728F4D2C90}" destId="{71B092AD-259E-43E5-82D2-911A26A69665}" srcOrd="0" destOrd="0" presId="urn:microsoft.com/office/officeart/2018/2/layout/IconVerticalSolidList"/>
    <dgm:cxn modelId="{5E8AFF88-5265-4D1C-A540-A4114202CB9B}" type="presParOf" srcId="{07560124-6061-42BF-8E89-04728F4D2C90}" destId="{E7CC464F-4590-457E-AE76-0C4C090F21F8}" srcOrd="1" destOrd="0" presId="urn:microsoft.com/office/officeart/2018/2/layout/IconVerticalSolidList"/>
    <dgm:cxn modelId="{C468F280-81B0-4CD7-80EA-94A2773EB088}" type="presParOf" srcId="{07560124-6061-42BF-8E89-04728F4D2C90}" destId="{F23DB1DD-82E9-4F38-864D-19E212626E1B}" srcOrd="2" destOrd="0" presId="urn:microsoft.com/office/officeart/2018/2/layout/IconVerticalSolidList"/>
    <dgm:cxn modelId="{05598051-61D4-4D08-BF94-E24A499272E9}" type="presParOf" srcId="{07560124-6061-42BF-8E89-04728F4D2C90}" destId="{0050FEFF-F892-4BB5-8D51-1A4E5E740A9D}" srcOrd="3" destOrd="0" presId="urn:microsoft.com/office/officeart/2018/2/layout/IconVerticalSolidList"/>
    <dgm:cxn modelId="{0889FA14-79EF-42B6-ACFC-AF2F33E773A6}" type="presParOf" srcId="{2E3220FA-3495-4768-966E-BEE2B82ACC7B}" destId="{1A7CB1CF-78D1-4CCE-BEE6-AC74A5089D1D}" srcOrd="5" destOrd="0" presId="urn:microsoft.com/office/officeart/2018/2/layout/IconVerticalSolidList"/>
    <dgm:cxn modelId="{83F5762C-F5B7-4491-8C71-B089CBB52F60}" type="presParOf" srcId="{2E3220FA-3495-4768-966E-BEE2B82ACC7B}" destId="{7BB53D67-7F92-459D-A07C-D62B9ED400E6}" srcOrd="6" destOrd="0" presId="urn:microsoft.com/office/officeart/2018/2/layout/IconVerticalSolidList"/>
    <dgm:cxn modelId="{D05AF979-5EF6-479A-B8B7-996AC017809F}" type="presParOf" srcId="{7BB53D67-7F92-459D-A07C-D62B9ED400E6}" destId="{AC3F8633-8368-4334-BE38-BEEC22A6AC08}" srcOrd="0" destOrd="0" presId="urn:microsoft.com/office/officeart/2018/2/layout/IconVerticalSolidList"/>
    <dgm:cxn modelId="{AAC5F297-3A54-4F6D-B61E-A7BBA2F7048E}" type="presParOf" srcId="{7BB53D67-7F92-459D-A07C-D62B9ED400E6}" destId="{FC396679-54FE-44E8-8FE5-ED0E9125E323}" srcOrd="1" destOrd="0" presId="urn:microsoft.com/office/officeart/2018/2/layout/IconVerticalSolidList"/>
    <dgm:cxn modelId="{B265CB73-741C-462A-A5C3-9D0ED2726E14}" type="presParOf" srcId="{7BB53D67-7F92-459D-A07C-D62B9ED400E6}" destId="{C1781096-A49E-4282-9CD3-46D42A8109D4}" srcOrd="2" destOrd="0" presId="urn:microsoft.com/office/officeart/2018/2/layout/IconVerticalSolidList"/>
    <dgm:cxn modelId="{1E0AEFB8-4F5B-44D7-82BE-00C77BB7DE6F}" type="presParOf" srcId="{7BB53D67-7F92-459D-A07C-D62B9ED400E6}" destId="{6560F48E-26C8-4CF7-BF4D-244D41CCD96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294D05-30AC-43C5-818A-F04CF0E66D4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6D43ED6-322B-428D-A2FB-8B9937D30473}">
      <dgm:prSet/>
      <dgm:spPr/>
      <dgm:t>
        <a:bodyPr/>
        <a:lstStyle/>
        <a:p>
          <a:r>
            <a:rPr lang="en-US"/>
            <a:t>T</a:t>
          </a:r>
          <a:r>
            <a:rPr lang="en-US" b="1"/>
            <a:t>arget population</a:t>
          </a:r>
          <a:r>
            <a:rPr lang="en-US"/>
            <a:t>: </a:t>
          </a:r>
        </a:p>
      </dgm:t>
    </dgm:pt>
    <dgm:pt modelId="{AF3BB0D2-747D-455B-ABBC-A3054E1B16F5}" type="parTrans" cxnId="{20538094-5388-4E85-AA46-D1887C5D648F}">
      <dgm:prSet/>
      <dgm:spPr/>
      <dgm:t>
        <a:bodyPr/>
        <a:lstStyle/>
        <a:p>
          <a:endParaRPr lang="en-US"/>
        </a:p>
      </dgm:t>
    </dgm:pt>
    <dgm:pt modelId="{4556BB06-E801-4064-B093-77867C03A284}" type="sibTrans" cxnId="{20538094-5388-4E85-AA46-D1887C5D648F}">
      <dgm:prSet/>
      <dgm:spPr/>
      <dgm:t>
        <a:bodyPr/>
        <a:lstStyle/>
        <a:p>
          <a:endParaRPr lang="en-US"/>
        </a:p>
      </dgm:t>
    </dgm:pt>
    <dgm:pt modelId="{0813338E-573E-4B4D-800E-3CD480C02F5A}">
      <dgm:prSet/>
      <dgm:spPr/>
      <dgm:t>
        <a:bodyPr/>
        <a:lstStyle/>
        <a:p>
          <a:r>
            <a:rPr lang="en-US"/>
            <a:t>Adults at high risk of obesity-related complications.</a:t>
          </a:r>
        </a:p>
      </dgm:t>
    </dgm:pt>
    <dgm:pt modelId="{E9EB4C0B-FEF6-453C-9438-98944EDAC3F1}" type="parTrans" cxnId="{776775B1-832A-4FDC-B25F-7DFCB7A11327}">
      <dgm:prSet/>
      <dgm:spPr/>
      <dgm:t>
        <a:bodyPr/>
        <a:lstStyle/>
        <a:p>
          <a:endParaRPr lang="en-US"/>
        </a:p>
      </dgm:t>
    </dgm:pt>
    <dgm:pt modelId="{F206EC0B-1571-412E-9384-462BC4DD6166}" type="sibTrans" cxnId="{776775B1-832A-4FDC-B25F-7DFCB7A11327}">
      <dgm:prSet/>
      <dgm:spPr/>
      <dgm:t>
        <a:bodyPr/>
        <a:lstStyle/>
        <a:p>
          <a:endParaRPr lang="en-US"/>
        </a:p>
      </dgm:t>
    </dgm:pt>
    <dgm:pt modelId="{FB856880-CB9E-4EDA-81AC-C427CDB06F13}">
      <dgm:prSet/>
      <dgm:spPr/>
      <dgm:t>
        <a:bodyPr/>
        <a:lstStyle/>
        <a:p>
          <a:r>
            <a:rPr lang="en-US" b="1"/>
            <a:t>Justification:</a:t>
          </a:r>
          <a:endParaRPr lang="en-US"/>
        </a:p>
      </dgm:t>
    </dgm:pt>
    <dgm:pt modelId="{AAC26611-5E94-49CD-884B-84657AA02B5C}" type="parTrans" cxnId="{3DAD14FD-7D2C-484D-995D-13C4EFD2A6DB}">
      <dgm:prSet/>
      <dgm:spPr/>
      <dgm:t>
        <a:bodyPr/>
        <a:lstStyle/>
        <a:p>
          <a:endParaRPr lang="en-US"/>
        </a:p>
      </dgm:t>
    </dgm:pt>
    <dgm:pt modelId="{44040D3E-D07F-4763-B0A8-4890CB902911}" type="sibTrans" cxnId="{3DAD14FD-7D2C-484D-995D-13C4EFD2A6DB}">
      <dgm:prSet/>
      <dgm:spPr/>
      <dgm:t>
        <a:bodyPr/>
        <a:lstStyle/>
        <a:p>
          <a:endParaRPr lang="en-US"/>
        </a:p>
      </dgm:t>
    </dgm:pt>
    <dgm:pt modelId="{D14E41EB-4C85-477E-B01F-0698E5125CA6}">
      <dgm:prSet/>
      <dgm:spPr/>
      <dgm:t>
        <a:bodyPr/>
        <a:lstStyle/>
        <a:p>
          <a:r>
            <a:rPr lang="en-US"/>
            <a:t>High disease burden and modifiable risk factors.</a:t>
          </a:r>
        </a:p>
      </dgm:t>
    </dgm:pt>
    <dgm:pt modelId="{DB2B1569-EDFA-4C95-A87D-8D69F78F6EDF}" type="parTrans" cxnId="{8902993A-FB79-4158-B910-8C688A694333}">
      <dgm:prSet/>
      <dgm:spPr/>
      <dgm:t>
        <a:bodyPr/>
        <a:lstStyle/>
        <a:p>
          <a:endParaRPr lang="en-US"/>
        </a:p>
      </dgm:t>
    </dgm:pt>
    <dgm:pt modelId="{E6C66F2D-4CBF-4AD2-B6A2-AB7EF6A867E3}" type="sibTrans" cxnId="{8902993A-FB79-4158-B910-8C688A694333}">
      <dgm:prSet/>
      <dgm:spPr/>
      <dgm:t>
        <a:bodyPr/>
        <a:lstStyle/>
        <a:p>
          <a:endParaRPr lang="en-US"/>
        </a:p>
      </dgm:t>
    </dgm:pt>
    <dgm:pt modelId="{C9DC5A37-8A5C-4459-B79C-4E20BCE77E7E}">
      <dgm:prSet/>
      <dgm:spPr/>
      <dgm:t>
        <a:bodyPr/>
        <a:lstStyle/>
        <a:p>
          <a:r>
            <a:rPr lang="en-US"/>
            <a:t>Opportunity for early intervention during routine visits.</a:t>
          </a:r>
        </a:p>
      </dgm:t>
    </dgm:pt>
    <dgm:pt modelId="{50F04B21-C53A-4357-9ED2-B6B29E50B910}" type="parTrans" cxnId="{3DBC11D1-BA6A-4EF9-A3A9-12824224DEDC}">
      <dgm:prSet/>
      <dgm:spPr/>
      <dgm:t>
        <a:bodyPr/>
        <a:lstStyle/>
        <a:p>
          <a:endParaRPr lang="en-US"/>
        </a:p>
      </dgm:t>
    </dgm:pt>
    <dgm:pt modelId="{C9D77974-05B7-48A9-A618-7F4C9A81096D}" type="sibTrans" cxnId="{3DBC11D1-BA6A-4EF9-A3A9-12824224DEDC}">
      <dgm:prSet/>
      <dgm:spPr/>
      <dgm:t>
        <a:bodyPr/>
        <a:lstStyle/>
        <a:p>
          <a:endParaRPr lang="en-US"/>
        </a:p>
      </dgm:t>
    </dgm:pt>
    <dgm:pt modelId="{9C275705-DFD4-41D0-953E-3ED4286D4F73}">
      <dgm:prSet/>
      <dgm:spPr/>
      <dgm:t>
        <a:bodyPr/>
        <a:lstStyle/>
        <a:p>
          <a:r>
            <a:rPr lang="en-US"/>
            <a:t>Supports over-loaded clinicians by highlighting patients needing closer follow-up.</a:t>
          </a:r>
        </a:p>
      </dgm:t>
    </dgm:pt>
    <dgm:pt modelId="{0A06EF45-806C-41AB-94F1-456994BC900C}" type="parTrans" cxnId="{70E64306-DD5E-457B-BAA3-FA2C5AAD43CE}">
      <dgm:prSet/>
      <dgm:spPr/>
      <dgm:t>
        <a:bodyPr/>
        <a:lstStyle/>
        <a:p>
          <a:endParaRPr lang="en-US"/>
        </a:p>
      </dgm:t>
    </dgm:pt>
    <dgm:pt modelId="{476D807A-E263-43B4-97E0-8514C7A649ED}" type="sibTrans" cxnId="{70E64306-DD5E-457B-BAA3-FA2C5AAD43CE}">
      <dgm:prSet/>
      <dgm:spPr/>
      <dgm:t>
        <a:bodyPr/>
        <a:lstStyle/>
        <a:p>
          <a:endParaRPr lang="en-US"/>
        </a:p>
      </dgm:t>
    </dgm:pt>
    <dgm:pt modelId="{6ED68F0C-05B2-4FFE-9083-1811924979BA}" type="pres">
      <dgm:prSet presAssocID="{48294D05-30AC-43C5-818A-F04CF0E66D42}" presName="linear" presStyleCnt="0">
        <dgm:presLayoutVars>
          <dgm:animLvl val="lvl"/>
          <dgm:resizeHandles val="exact"/>
        </dgm:presLayoutVars>
      </dgm:prSet>
      <dgm:spPr/>
    </dgm:pt>
    <dgm:pt modelId="{E3DA1834-CA83-4A5A-81D5-F05C93BCEDB6}" type="pres">
      <dgm:prSet presAssocID="{D6D43ED6-322B-428D-A2FB-8B9937D3047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40C418B-0E47-42CE-919B-0D38039D449E}" type="pres">
      <dgm:prSet presAssocID="{D6D43ED6-322B-428D-A2FB-8B9937D30473}" presName="childText" presStyleLbl="revTx" presStyleIdx="0" presStyleCnt="2">
        <dgm:presLayoutVars>
          <dgm:bulletEnabled val="1"/>
        </dgm:presLayoutVars>
      </dgm:prSet>
      <dgm:spPr/>
    </dgm:pt>
    <dgm:pt modelId="{DD0406AF-E7CA-4D09-97E8-2980885CC5FB}" type="pres">
      <dgm:prSet presAssocID="{FB856880-CB9E-4EDA-81AC-C427CDB06F1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DF33DA4-110F-4C38-A5DF-8984817F4107}" type="pres">
      <dgm:prSet presAssocID="{FB856880-CB9E-4EDA-81AC-C427CDB06F1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0E64306-DD5E-457B-BAA3-FA2C5AAD43CE}" srcId="{FB856880-CB9E-4EDA-81AC-C427CDB06F13}" destId="{9C275705-DFD4-41D0-953E-3ED4286D4F73}" srcOrd="2" destOrd="0" parTransId="{0A06EF45-806C-41AB-94F1-456994BC900C}" sibTransId="{476D807A-E263-43B4-97E0-8514C7A649ED}"/>
    <dgm:cxn modelId="{8902993A-FB79-4158-B910-8C688A694333}" srcId="{FB856880-CB9E-4EDA-81AC-C427CDB06F13}" destId="{D14E41EB-4C85-477E-B01F-0698E5125CA6}" srcOrd="0" destOrd="0" parTransId="{DB2B1569-EDFA-4C95-A87D-8D69F78F6EDF}" sibTransId="{E6C66F2D-4CBF-4AD2-B6A2-AB7EF6A867E3}"/>
    <dgm:cxn modelId="{A643A961-D2EB-4ACC-AF97-81AE74581835}" type="presOf" srcId="{D6D43ED6-322B-428D-A2FB-8B9937D30473}" destId="{E3DA1834-CA83-4A5A-81D5-F05C93BCEDB6}" srcOrd="0" destOrd="0" presId="urn:microsoft.com/office/officeart/2005/8/layout/vList2"/>
    <dgm:cxn modelId="{560EA07A-C3F0-410B-A502-1ED35900BF3D}" type="presOf" srcId="{FB856880-CB9E-4EDA-81AC-C427CDB06F13}" destId="{DD0406AF-E7CA-4D09-97E8-2980885CC5FB}" srcOrd="0" destOrd="0" presId="urn:microsoft.com/office/officeart/2005/8/layout/vList2"/>
    <dgm:cxn modelId="{DEC65E93-5880-4829-96F1-70E235A5893C}" type="presOf" srcId="{D14E41EB-4C85-477E-B01F-0698E5125CA6}" destId="{4DF33DA4-110F-4C38-A5DF-8984817F4107}" srcOrd="0" destOrd="0" presId="urn:microsoft.com/office/officeart/2005/8/layout/vList2"/>
    <dgm:cxn modelId="{20538094-5388-4E85-AA46-D1887C5D648F}" srcId="{48294D05-30AC-43C5-818A-F04CF0E66D42}" destId="{D6D43ED6-322B-428D-A2FB-8B9937D30473}" srcOrd="0" destOrd="0" parTransId="{AF3BB0D2-747D-455B-ABBC-A3054E1B16F5}" sibTransId="{4556BB06-E801-4064-B093-77867C03A284}"/>
    <dgm:cxn modelId="{D4B90898-79FE-4E24-AB88-C97462DDD6AD}" type="presOf" srcId="{0813338E-573E-4B4D-800E-3CD480C02F5A}" destId="{540C418B-0E47-42CE-919B-0D38039D449E}" srcOrd="0" destOrd="0" presId="urn:microsoft.com/office/officeart/2005/8/layout/vList2"/>
    <dgm:cxn modelId="{FB0B04A2-861A-4F55-94A6-2189891285E0}" type="presOf" srcId="{9C275705-DFD4-41D0-953E-3ED4286D4F73}" destId="{4DF33DA4-110F-4C38-A5DF-8984817F4107}" srcOrd="0" destOrd="2" presId="urn:microsoft.com/office/officeart/2005/8/layout/vList2"/>
    <dgm:cxn modelId="{776775B1-832A-4FDC-B25F-7DFCB7A11327}" srcId="{D6D43ED6-322B-428D-A2FB-8B9937D30473}" destId="{0813338E-573E-4B4D-800E-3CD480C02F5A}" srcOrd="0" destOrd="0" parTransId="{E9EB4C0B-FEF6-453C-9438-98944EDAC3F1}" sibTransId="{F206EC0B-1571-412E-9384-462BC4DD6166}"/>
    <dgm:cxn modelId="{F1F861CB-B6B5-43A3-87D3-2B22BD6D18D8}" type="presOf" srcId="{48294D05-30AC-43C5-818A-F04CF0E66D42}" destId="{6ED68F0C-05B2-4FFE-9083-1811924979BA}" srcOrd="0" destOrd="0" presId="urn:microsoft.com/office/officeart/2005/8/layout/vList2"/>
    <dgm:cxn modelId="{3DBC11D1-BA6A-4EF9-A3A9-12824224DEDC}" srcId="{FB856880-CB9E-4EDA-81AC-C427CDB06F13}" destId="{C9DC5A37-8A5C-4459-B79C-4E20BCE77E7E}" srcOrd="1" destOrd="0" parTransId="{50F04B21-C53A-4357-9ED2-B6B29E50B910}" sibTransId="{C9D77974-05B7-48A9-A618-7F4C9A81096D}"/>
    <dgm:cxn modelId="{3DAD14FD-7D2C-484D-995D-13C4EFD2A6DB}" srcId="{48294D05-30AC-43C5-818A-F04CF0E66D42}" destId="{FB856880-CB9E-4EDA-81AC-C427CDB06F13}" srcOrd="1" destOrd="0" parTransId="{AAC26611-5E94-49CD-884B-84657AA02B5C}" sibTransId="{44040D3E-D07F-4763-B0A8-4890CB902911}"/>
    <dgm:cxn modelId="{B5D5C1FE-68D7-480F-AE48-4039CDBA5DCB}" type="presOf" srcId="{C9DC5A37-8A5C-4459-B79C-4E20BCE77E7E}" destId="{4DF33DA4-110F-4C38-A5DF-8984817F4107}" srcOrd="0" destOrd="1" presId="urn:microsoft.com/office/officeart/2005/8/layout/vList2"/>
    <dgm:cxn modelId="{DEF2B208-60B0-4F96-8254-B32E57565024}" type="presParOf" srcId="{6ED68F0C-05B2-4FFE-9083-1811924979BA}" destId="{E3DA1834-CA83-4A5A-81D5-F05C93BCEDB6}" srcOrd="0" destOrd="0" presId="urn:microsoft.com/office/officeart/2005/8/layout/vList2"/>
    <dgm:cxn modelId="{7A17AAF6-6529-441F-A307-FCF5FA675DA0}" type="presParOf" srcId="{6ED68F0C-05B2-4FFE-9083-1811924979BA}" destId="{540C418B-0E47-42CE-919B-0D38039D449E}" srcOrd="1" destOrd="0" presId="urn:microsoft.com/office/officeart/2005/8/layout/vList2"/>
    <dgm:cxn modelId="{CF9B331F-B280-4DBB-BD7F-F5928347E1CA}" type="presParOf" srcId="{6ED68F0C-05B2-4FFE-9083-1811924979BA}" destId="{DD0406AF-E7CA-4D09-97E8-2980885CC5FB}" srcOrd="2" destOrd="0" presId="urn:microsoft.com/office/officeart/2005/8/layout/vList2"/>
    <dgm:cxn modelId="{CE8C09EF-9902-4469-9452-C3461DA669D9}" type="presParOf" srcId="{6ED68F0C-05B2-4FFE-9083-1811924979BA}" destId="{4DF33DA4-110F-4C38-A5DF-8984817F410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37D000-E33D-4652-80D5-13EED6AEA3B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70BE1E3-474E-493D-A4ED-CBEE64384ED9}">
      <dgm:prSet/>
      <dgm:spPr/>
      <dgm:t>
        <a:bodyPr/>
        <a:lstStyle/>
        <a:p>
          <a:r>
            <a:rPr lang="en-US"/>
            <a:t>Machine-learning models have shown strong performance in predicting obesity risk and related outcomes.</a:t>
          </a:r>
        </a:p>
      </dgm:t>
    </dgm:pt>
    <dgm:pt modelId="{9FB36C76-612F-4487-90EF-6CC19EAAA3DE}" type="parTrans" cxnId="{7D00E654-FDF6-4F48-8F3A-025818ED99D0}">
      <dgm:prSet/>
      <dgm:spPr/>
      <dgm:t>
        <a:bodyPr/>
        <a:lstStyle/>
        <a:p>
          <a:endParaRPr lang="en-US"/>
        </a:p>
      </dgm:t>
    </dgm:pt>
    <dgm:pt modelId="{065A8C0C-EB7B-4C86-AADA-229908B2E9C2}" type="sibTrans" cxnId="{7D00E654-FDF6-4F48-8F3A-025818ED99D0}">
      <dgm:prSet/>
      <dgm:spPr/>
      <dgm:t>
        <a:bodyPr/>
        <a:lstStyle/>
        <a:p>
          <a:endParaRPr lang="en-US"/>
        </a:p>
      </dgm:t>
    </dgm:pt>
    <dgm:pt modelId="{44295124-6917-442C-8C20-AF811927A8D0}">
      <dgm:prSet/>
      <dgm:spPr/>
      <dgm:t>
        <a:bodyPr/>
        <a:lstStyle/>
        <a:p>
          <a:r>
            <a:rPr lang="en-US"/>
            <a:t>Helforoush &amp; Sayyad (2024) used a hybrid metaheuristic ML approach, improving precision of obesity risk prediction [3].</a:t>
          </a:r>
        </a:p>
      </dgm:t>
    </dgm:pt>
    <dgm:pt modelId="{D404C34A-970F-4828-821A-C603A32AB5E8}" type="parTrans" cxnId="{4A578489-2624-4EA9-B4F7-48C1032C199E}">
      <dgm:prSet/>
      <dgm:spPr/>
      <dgm:t>
        <a:bodyPr/>
        <a:lstStyle/>
        <a:p>
          <a:endParaRPr lang="en-US"/>
        </a:p>
      </dgm:t>
    </dgm:pt>
    <dgm:pt modelId="{2221F9E9-E5F4-4C21-96D1-9D0646EF05D9}" type="sibTrans" cxnId="{4A578489-2624-4EA9-B4F7-48C1032C199E}">
      <dgm:prSet/>
      <dgm:spPr/>
      <dgm:t>
        <a:bodyPr/>
        <a:lstStyle/>
        <a:p>
          <a:endParaRPr lang="en-US"/>
        </a:p>
      </dgm:t>
    </dgm:pt>
    <dgm:pt modelId="{227E96BF-A2AA-4783-B26E-A2A5B6B2BC4B}">
      <dgm:prSet/>
      <dgm:spPr/>
      <dgm:t>
        <a:bodyPr/>
        <a:lstStyle/>
        <a:p>
          <a:r>
            <a:rPr lang="en-US"/>
            <a:t>Shen et al. (2024) developed a visualization-based obesity prediction system, emphasizing interpretability for clinicians [4].</a:t>
          </a:r>
        </a:p>
      </dgm:t>
    </dgm:pt>
    <dgm:pt modelId="{EDFBBE3A-10AA-499F-B329-E90F1B9E8B2D}" type="parTrans" cxnId="{985B00C2-47E4-4D7A-9E85-813B752E221D}">
      <dgm:prSet/>
      <dgm:spPr/>
      <dgm:t>
        <a:bodyPr/>
        <a:lstStyle/>
        <a:p>
          <a:endParaRPr lang="en-US"/>
        </a:p>
      </dgm:t>
    </dgm:pt>
    <dgm:pt modelId="{9CD38CD0-8FF9-465B-8C13-792C2EECB35E}" type="sibTrans" cxnId="{985B00C2-47E4-4D7A-9E85-813B752E221D}">
      <dgm:prSet/>
      <dgm:spPr/>
      <dgm:t>
        <a:bodyPr/>
        <a:lstStyle/>
        <a:p>
          <a:endParaRPr lang="en-US"/>
        </a:p>
      </dgm:t>
    </dgm:pt>
    <dgm:pt modelId="{F31B59DB-F396-49D2-92D0-2FBC86124382}">
      <dgm:prSet/>
      <dgm:spPr/>
      <dgm:t>
        <a:bodyPr/>
        <a:lstStyle/>
        <a:p>
          <a:r>
            <a:rPr lang="en-US"/>
            <a:t>Nguyen et al. (2023) systematic review: AI methods consistently outperform traditional statistical models in obesity prediction tasks [7].</a:t>
          </a:r>
        </a:p>
      </dgm:t>
    </dgm:pt>
    <dgm:pt modelId="{056FA46A-997F-4CAC-BCA5-87CF2B92545F}" type="parTrans" cxnId="{1F5224CC-3E62-4F9C-9150-368CEFEEBFEA}">
      <dgm:prSet/>
      <dgm:spPr/>
      <dgm:t>
        <a:bodyPr/>
        <a:lstStyle/>
        <a:p>
          <a:endParaRPr lang="en-US"/>
        </a:p>
      </dgm:t>
    </dgm:pt>
    <dgm:pt modelId="{CF399EA8-0B1E-46E9-A751-A3F47E2FFB83}" type="sibTrans" cxnId="{1F5224CC-3E62-4F9C-9150-368CEFEEBFEA}">
      <dgm:prSet/>
      <dgm:spPr/>
      <dgm:t>
        <a:bodyPr/>
        <a:lstStyle/>
        <a:p>
          <a:endParaRPr lang="en-US"/>
        </a:p>
      </dgm:t>
    </dgm:pt>
    <dgm:pt modelId="{F0697371-6D78-4519-A32B-D4B1E9BF3C88}" type="pres">
      <dgm:prSet presAssocID="{0737D000-E33D-4652-80D5-13EED6AEA3B2}" presName="linear" presStyleCnt="0">
        <dgm:presLayoutVars>
          <dgm:animLvl val="lvl"/>
          <dgm:resizeHandles val="exact"/>
        </dgm:presLayoutVars>
      </dgm:prSet>
      <dgm:spPr/>
    </dgm:pt>
    <dgm:pt modelId="{37DB12ED-E0A8-4C09-AF35-3BFE03ADE023}" type="pres">
      <dgm:prSet presAssocID="{070BE1E3-474E-493D-A4ED-CBEE64384ED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51EC502-2CB0-4008-A171-C30873AB2311}" type="pres">
      <dgm:prSet presAssocID="{065A8C0C-EB7B-4C86-AADA-229908B2E9C2}" presName="spacer" presStyleCnt="0"/>
      <dgm:spPr/>
    </dgm:pt>
    <dgm:pt modelId="{326E0040-9683-49D0-AC7A-2CE4CEB5D65D}" type="pres">
      <dgm:prSet presAssocID="{44295124-6917-442C-8C20-AF811927A8D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387A15A-5A21-4DEF-B30F-9661DEF08033}" type="pres">
      <dgm:prSet presAssocID="{2221F9E9-E5F4-4C21-96D1-9D0646EF05D9}" presName="spacer" presStyleCnt="0"/>
      <dgm:spPr/>
    </dgm:pt>
    <dgm:pt modelId="{6871F024-B142-4ED5-A0BA-CFF7D7BCE187}" type="pres">
      <dgm:prSet presAssocID="{227E96BF-A2AA-4783-B26E-A2A5B6B2BC4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73F35A-5413-4171-8425-067CA68B00A5}" type="pres">
      <dgm:prSet presAssocID="{9CD38CD0-8FF9-465B-8C13-792C2EECB35E}" presName="spacer" presStyleCnt="0"/>
      <dgm:spPr/>
    </dgm:pt>
    <dgm:pt modelId="{506CAAB2-AA9F-4703-B502-ACC3E2E7B66A}" type="pres">
      <dgm:prSet presAssocID="{F31B59DB-F396-49D2-92D0-2FBC8612438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E17CE01-C11E-49C1-91F1-9B179C205894}" type="presOf" srcId="{0737D000-E33D-4652-80D5-13EED6AEA3B2}" destId="{F0697371-6D78-4519-A32B-D4B1E9BF3C88}" srcOrd="0" destOrd="0" presId="urn:microsoft.com/office/officeart/2005/8/layout/vList2"/>
    <dgm:cxn modelId="{95C02211-DCF4-44F3-811D-4F72475B4586}" type="presOf" srcId="{44295124-6917-442C-8C20-AF811927A8D0}" destId="{326E0040-9683-49D0-AC7A-2CE4CEB5D65D}" srcOrd="0" destOrd="0" presId="urn:microsoft.com/office/officeart/2005/8/layout/vList2"/>
    <dgm:cxn modelId="{7D00E654-FDF6-4F48-8F3A-025818ED99D0}" srcId="{0737D000-E33D-4652-80D5-13EED6AEA3B2}" destId="{070BE1E3-474E-493D-A4ED-CBEE64384ED9}" srcOrd="0" destOrd="0" parTransId="{9FB36C76-612F-4487-90EF-6CC19EAAA3DE}" sibTransId="{065A8C0C-EB7B-4C86-AADA-229908B2E9C2}"/>
    <dgm:cxn modelId="{861EB458-D017-4D8D-A65A-801829943818}" type="presOf" srcId="{F31B59DB-F396-49D2-92D0-2FBC86124382}" destId="{506CAAB2-AA9F-4703-B502-ACC3E2E7B66A}" srcOrd="0" destOrd="0" presId="urn:microsoft.com/office/officeart/2005/8/layout/vList2"/>
    <dgm:cxn modelId="{4A578489-2624-4EA9-B4F7-48C1032C199E}" srcId="{0737D000-E33D-4652-80D5-13EED6AEA3B2}" destId="{44295124-6917-442C-8C20-AF811927A8D0}" srcOrd="1" destOrd="0" parTransId="{D404C34A-970F-4828-821A-C603A32AB5E8}" sibTransId="{2221F9E9-E5F4-4C21-96D1-9D0646EF05D9}"/>
    <dgm:cxn modelId="{0C962D8C-4C14-4D86-88CD-6F08D99F96D4}" type="presOf" srcId="{227E96BF-A2AA-4783-B26E-A2A5B6B2BC4B}" destId="{6871F024-B142-4ED5-A0BA-CFF7D7BCE187}" srcOrd="0" destOrd="0" presId="urn:microsoft.com/office/officeart/2005/8/layout/vList2"/>
    <dgm:cxn modelId="{DA8082A5-29AB-49AB-95D7-4879B867A04F}" type="presOf" srcId="{070BE1E3-474E-493D-A4ED-CBEE64384ED9}" destId="{37DB12ED-E0A8-4C09-AF35-3BFE03ADE023}" srcOrd="0" destOrd="0" presId="urn:microsoft.com/office/officeart/2005/8/layout/vList2"/>
    <dgm:cxn modelId="{985B00C2-47E4-4D7A-9E85-813B752E221D}" srcId="{0737D000-E33D-4652-80D5-13EED6AEA3B2}" destId="{227E96BF-A2AA-4783-B26E-A2A5B6B2BC4B}" srcOrd="2" destOrd="0" parTransId="{EDFBBE3A-10AA-499F-B329-E90F1B9E8B2D}" sibTransId="{9CD38CD0-8FF9-465B-8C13-792C2EECB35E}"/>
    <dgm:cxn modelId="{1F5224CC-3E62-4F9C-9150-368CEFEEBFEA}" srcId="{0737D000-E33D-4652-80D5-13EED6AEA3B2}" destId="{F31B59DB-F396-49D2-92D0-2FBC86124382}" srcOrd="3" destOrd="0" parTransId="{056FA46A-997F-4CAC-BCA5-87CF2B92545F}" sibTransId="{CF399EA8-0B1E-46E9-A751-A3F47E2FFB83}"/>
    <dgm:cxn modelId="{EB337EBE-F570-4788-ABC1-D242C3D46865}" type="presParOf" srcId="{F0697371-6D78-4519-A32B-D4B1E9BF3C88}" destId="{37DB12ED-E0A8-4C09-AF35-3BFE03ADE023}" srcOrd="0" destOrd="0" presId="urn:microsoft.com/office/officeart/2005/8/layout/vList2"/>
    <dgm:cxn modelId="{D4214021-56FA-4247-8102-9BBC3E48BE47}" type="presParOf" srcId="{F0697371-6D78-4519-A32B-D4B1E9BF3C88}" destId="{E51EC502-2CB0-4008-A171-C30873AB2311}" srcOrd="1" destOrd="0" presId="urn:microsoft.com/office/officeart/2005/8/layout/vList2"/>
    <dgm:cxn modelId="{32B51129-EDF0-4FD6-9E75-1AD763BE7B0B}" type="presParOf" srcId="{F0697371-6D78-4519-A32B-D4B1E9BF3C88}" destId="{326E0040-9683-49D0-AC7A-2CE4CEB5D65D}" srcOrd="2" destOrd="0" presId="urn:microsoft.com/office/officeart/2005/8/layout/vList2"/>
    <dgm:cxn modelId="{B3A40093-1AAE-4811-AB02-7D4C198326E4}" type="presParOf" srcId="{F0697371-6D78-4519-A32B-D4B1E9BF3C88}" destId="{7387A15A-5A21-4DEF-B30F-9661DEF08033}" srcOrd="3" destOrd="0" presId="urn:microsoft.com/office/officeart/2005/8/layout/vList2"/>
    <dgm:cxn modelId="{73204A6C-6C30-4D6C-8C60-A824B37A6D5D}" type="presParOf" srcId="{F0697371-6D78-4519-A32B-D4B1E9BF3C88}" destId="{6871F024-B142-4ED5-A0BA-CFF7D7BCE187}" srcOrd="4" destOrd="0" presId="urn:microsoft.com/office/officeart/2005/8/layout/vList2"/>
    <dgm:cxn modelId="{B9387D75-0EBC-4164-9F36-971012F4BCB8}" type="presParOf" srcId="{F0697371-6D78-4519-A32B-D4B1E9BF3C88}" destId="{4273F35A-5413-4171-8425-067CA68B00A5}" srcOrd="5" destOrd="0" presId="urn:microsoft.com/office/officeart/2005/8/layout/vList2"/>
    <dgm:cxn modelId="{02C4FDCB-27A0-4C4F-8EB0-46B8E5CC37FB}" type="presParOf" srcId="{F0697371-6D78-4519-A32B-D4B1E9BF3C88}" destId="{506CAAB2-AA9F-4703-B502-ACC3E2E7B6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4F8BE4-3917-4A5D-9F53-6CC7E68C0F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F160708-468F-4E43-9CA2-14522ECDC88C}">
      <dgm:prSet/>
      <dgm:spPr/>
      <dgm:t>
        <a:bodyPr/>
        <a:lstStyle/>
        <a:p>
          <a:r>
            <a:rPr lang="en-US"/>
            <a:t>Shortliffe &amp; Sepúlveda (2018) highlight how CDSS, when combined with AI, can enhance but not replace clinician judgment [2].</a:t>
          </a:r>
        </a:p>
      </dgm:t>
    </dgm:pt>
    <dgm:pt modelId="{7B1C79E2-2677-4CE8-8B8B-E2B46E5538AB}" type="parTrans" cxnId="{DFD07890-94E6-4EA5-ADE6-C44657A8FFC9}">
      <dgm:prSet/>
      <dgm:spPr/>
      <dgm:t>
        <a:bodyPr/>
        <a:lstStyle/>
        <a:p>
          <a:endParaRPr lang="en-US"/>
        </a:p>
      </dgm:t>
    </dgm:pt>
    <dgm:pt modelId="{657BC7E8-E85A-46DE-ACDB-A8E5BA3512FD}" type="sibTrans" cxnId="{DFD07890-94E6-4EA5-ADE6-C44657A8FFC9}">
      <dgm:prSet/>
      <dgm:spPr/>
      <dgm:t>
        <a:bodyPr/>
        <a:lstStyle/>
        <a:p>
          <a:endParaRPr lang="en-US"/>
        </a:p>
      </dgm:t>
    </dgm:pt>
    <dgm:pt modelId="{CD8B3CFF-BD79-4332-B921-C47A9E613683}">
      <dgm:prSet/>
      <dgm:spPr/>
      <dgm:t>
        <a:bodyPr/>
        <a:lstStyle/>
        <a:p>
          <a:r>
            <a:rPr lang="en-US"/>
            <a:t>Esteva et al. (2019) showed deep learning’s potential in healthcare but stress transparency and clinical validation [8].</a:t>
          </a:r>
        </a:p>
      </dgm:t>
    </dgm:pt>
    <dgm:pt modelId="{D6F1DD2B-F418-4E48-B0FD-D74248C0F3BD}" type="parTrans" cxnId="{7C06152B-76F7-4AB7-8497-991D325C69FB}">
      <dgm:prSet/>
      <dgm:spPr/>
      <dgm:t>
        <a:bodyPr/>
        <a:lstStyle/>
        <a:p>
          <a:endParaRPr lang="en-US"/>
        </a:p>
      </dgm:t>
    </dgm:pt>
    <dgm:pt modelId="{DF297E8F-5C35-4B97-800F-BF47FD549D72}" type="sibTrans" cxnId="{7C06152B-76F7-4AB7-8497-991D325C69FB}">
      <dgm:prSet/>
      <dgm:spPr/>
      <dgm:t>
        <a:bodyPr/>
        <a:lstStyle/>
        <a:p>
          <a:endParaRPr lang="en-US"/>
        </a:p>
      </dgm:t>
    </dgm:pt>
    <dgm:pt modelId="{C5BF406C-67C7-4ED5-B34D-25EBC2DD98BD}">
      <dgm:prSet/>
      <dgm:spPr/>
      <dgm:t>
        <a:bodyPr/>
        <a:lstStyle/>
        <a:p>
          <a:r>
            <a:rPr lang="en-US"/>
            <a:t>Lee et al. (2025) used ensemble ML models on survey data to predict obesity in T2DM patients, achieving high performance and demonstrating real-world utility [5].</a:t>
          </a:r>
        </a:p>
      </dgm:t>
    </dgm:pt>
    <dgm:pt modelId="{2DF93FC9-4B11-4173-80C3-8618925083FA}" type="parTrans" cxnId="{81E50A0A-041A-4627-BF00-B4B49E44882D}">
      <dgm:prSet/>
      <dgm:spPr/>
      <dgm:t>
        <a:bodyPr/>
        <a:lstStyle/>
        <a:p>
          <a:endParaRPr lang="en-US"/>
        </a:p>
      </dgm:t>
    </dgm:pt>
    <dgm:pt modelId="{E68A4652-E8A6-404E-AC0B-820A030952BF}" type="sibTrans" cxnId="{81E50A0A-041A-4627-BF00-B4B49E44882D}">
      <dgm:prSet/>
      <dgm:spPr/>
      <dgm:t>
        <a:bodyPr/>
        <a:lstStyle/>
        <a:p>
          <a:endParaRPr lang="en-US"/>
        </a:p>
      </dgm:t>
    </dgm:pt>
    <dgm:pt modelId="{B41ADA33-25D9-4CD3-849E-D796F8EA5426}">
      <dgm:prSet/>
      <dgm:spPr/>
      <dgm:t>
        <a:bodyPr/>
        <a:lstStyle/>
        <a:p>
          <a:r>
            <a:rPr lang="en-US" b="1"/>
            <a:t>Gap:</a:t>
          </a:r>
          <a:r>
            <a:rPr lang="en-US"/>
            <a:t> Many AI models are not packaged into usable CDSS tools with clinician-in-the-loop workflows.</a:t>
          </a:r>
        </a:p>
      </dgm:t>
    </dgm:pt>
    <dgm:pt modelId="{A500F6F3-DA4E-4D6E-B466-24AD44DC7103}" type="parTrans" cxnId="{2C2447CE-D28C-425C-B0EA-4D4DCB41228A}">
      <dgm:prSet/>
      <dgm:spPr/>
      <dgm:t>
        <a:bodyPr/>
        <a:lstStyle/>
        <a:p>
          <a:endParaRPr lang="en-US"/>
        </a:p>
      </dgm:t>
    </dgm:pt>
    <dgm:pt modelId="{79C5F7A3-498A-445E-969F-3AE9C9BB19C5}" type="sibTrans" cxnId="{2C2447CE-D28C-425C-B0EA-4D4DCB41228A}">
      <dgm:prSet/>
      <dgm:spPr/>
      <dgm:t>
        <a:bodyPr/>
        <a:lstStyle/>
        <a:p>
          <a:endParaRPr lang="en-US"/>
        </a:p>
      </dgm:t>
    </dgm:pt>
    <dgm:pt modelId="{2ECF5541-3558-4B43-9290-A47433EA5C90}" type="pres">
      <dgm:prSet presAssocID="{3C4F8BE4-3917-4A5D-9F53-6CC7E68C0F4C}" presName="linear" presStyleCnt="0">
        <dgm:presLayoutVars>
          <dgm:animLvl val="lvl"/>
          <dgm:resizeHandles val="exact"/>
        </dgm:presLayoutVars>
      </dgm:prSet>
      <dgm:spPr/>
    </dgm:pt>
    <dgm:pt modelId="{679D75A2-1457-429B-8033-30EC0393EAE0}" type="pres">
      <dgm:prSet presAssocID="{9F160708-468F-4E43-9CA2-14522ECDC88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830E422-C4EF-4409-9D83-7F66B4465CBF}" type="pres">
      <dgm:prSet presAssocID="{657BC7E8-E85A-46DE-ACDB-A8E5BA3512FD}" presName="spacer" presStyleCnt="0"/>
      <dgm:spPr/>
    </dgm:pt>
    <dgm:pt modelId="{B6CD4F56-9B6F-4CC9-A935-2CC26412F9BB}" type="pres">
      <dgm:prSet presAssocID="{CD8B3CFF-BD79-4332-B921-C47A9E61368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31DADEF-B5E2-41DF-A7B5-F07885E4422F}" type="pres">
      <dgm:prSet presAssocID="{DF297E8F-5C35-4B97-800F-BF47FD549D72}" presName="spacer" presStyleCnt="0"/>
      <dgm:spPr/>
    </dgm:pt>
    <dgm:pt modelId="{B2F72D55-D6EE-4BE2-BCC4-9707A1888CD3}" type="pres">
      <dgm:prSet presAssocID="{C5BF406C-67C7-4ED5-B34D-25EBC2DD98B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0CEAD56-A5A2-43A7-BCEF-F33EC47E8EF4}" type="pres">
      <dgm:prSet presAssocID="{E68A4652-E8A6-404E-AC0B-820A030952BF}" presName="spacer" presStyleCnt="0"/>
      <dgm:spPr/>
    </dgm:pt>
    <dgm:pt modelId="{3D141E37-941C-42B0-BAB0-70DEF77FD5FF}" type="pres">
      <dgm:prSet presAssocID="{B41ADA33-25D9-4CD3-849E-D796F8EA542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1E50A0A-041A-4627-BF00-B4B49E44882D}" srcId="{3C4F8BE4-3917-4A5D-9F53-6CC7E68C0F4C}" destId="{C5BF406C-67C7-4ED5-B34D-25EBC2DD98BD}" srcOrd="2" destOrd="0" parTransId="{2DF93FC9-4B11-4173-80C3-8618925083FA}" sibTransId="{E68A4652-E8A6-404E-AC0B-820A030952BF}"/>
    <dgm:cxn modelId="{7C06152B-76F7-4AB7-8497-991D325C69FB}" srcId="{3C4F8BE4-3917-4A5D-9F53-6CC7E68C0F4C}" destId="{CD8B3CFF-BD79-4332-B921-C47A9E613683}" srcOrd="1" destOrd="0" parTransId="{D6F1DD2B-F418-4E48-B0FD-D74248C0F3BD}" sibTransId="{DF297E8F-5C35-4B97-800F-BF47FD549D72}"/>
    <dgm:cxn modelId="{D4210669-8E1F-43B2-9903-211A52CE20D5}" type="presOf" srcId="{9F160708-468F-4E43-9CA2-14522ECDC88C}" destId="{679D75A2-1457-429B-8033-30EC0393EAE0}" srcOrd="0" destOrd="0" presId="urn:microsoft.com/office/officeart/2005/8/layout/vList2"/>
    <dgm:cxn modelId="{156B517D-AF69-4EE9-AD53-3AC09E77D0E3}" type="presOf" srcId="{B41ADA33-25D9-4CD3-849E-D796F8EA5426}" destId="{3D141E37-941C-42B0-BAB0-70DEF77FD5FF}" srcOrd="0" destOrd="0" presId="urn:microsoft.com/office/officeart/2005/8/layout/vList2"/>
    <dgm:cxn modelId="{37FC308E-F823-4AC6-B8AA-F84DD69513F8}" type="presOf" srcId="{CD8B3CFF-BD79-4332-B921-C47A9E613683}" destId="{B6CD4F56-9B6F-4CC9-A935-2CC26412F9BB}" srcOrd="0" destOrd="0" presId="urn:microsoft.com/office/officeart/2005/8/layout/vList2"/>
    <dgm:cxn modelId="{DFD07890-94E6-4EA5-ADE6-C44657A8FFC9}" srcId="{3C4F8BE4-3917-4A5D-9F53-6CC7E68C0F4C}" destId="{9F160708-468F-4E43-9CA2-14522ECDC88C}" srcOrd="0" destOrd="0" parTransId="{7B1C79E2-2677-4CE8-8B8B-E2B46E5538AB}" sibTransId="{657BC7E8-E85A-46DE-ACDB-A8E5BA3512FD}"/>
    <dgm:cxn modelId="{3ADABF98-3208-4A7D-90FF-44B1F6DDEAF8}" type="presOf" srcId="{C5BF406C-67C7-4ED5-B34D-25EBC2DD98BD}" destId="{B2F72D55-D6EE-4BE2-BCC4-9707A1888CD3}" srcOrd="0" destOrd="0" presId="urn:microsoft.com/office/officeart/2005/8/layout/vList2"/>
    <dgm:cxn modelId="{2C2447CE-D28C-425C-B0EA-4D4DCB41228A}" srcId="{3C4F8BE4-3917-4A5D-9F53-6CC7E68C0F4C}" destId="{B41ADA33-25D9-4CD3-849E-D796F8EA5426}" srcOrd="3" destOrd="0" parTransId="{A500F6F3-DA4E-4D6E-B466-24AD44DC7103}" sibTransId="{79C5F7A3-498A-445E-969F-3AE9C9BB19C5}"/>
    <dgm:cxn modelId="{389D01D4-5202-403E-8AF3-76D058FFD6A8}" type="presOf" srcId="{3C4F8BE4-3917-4A5D-9F53-6CC7E68C0F4C}" destId="{2ECF5541-3558-4B43-9290-A47433EA5C90}" srcOrd="0" destOrd="0" presId="urn:microsoft.com/office/officeart/2005/8/layout/vList2"/>
    <dgm:cxn modelId="{87BA2180-8644-4875-986A-3578F21C68D6}" type="presParOf" srcId="{2ECF5541-3558-4B43-9290-A47433EA5C90}" destId="{679D75A2-1457-429B-8033-30EC0393EAE0}" srcOrd="0" destOrd="0" presId="urn:microsoft.com/office/officeart/2005/8/layout/vList2"/>
    <dgm:cxn modelId="{99253194-1525-486A-AF02-0F4053C0F6AD}" type="presParOf" srcId="{2ECF5541-3558-4B43-9290-A47433EA5C90}" destId="{9830E422-C4EF-4409-9D83-7F66B4465CBF}" srcOrd="1" destOrd="0" presId="urn:microsoft.com/office/officeart/2005/8/layout/vList2"/>
    <dgm:cxn modelId="{9CA8AC95-A46F-45C2-970D-ED33A0FCF70A}" type="presParOf" srcId="{2ECF5541-3558-4B43-9290-A47433EA5C90}" destId="{B6CD4F56-9B6F-4CC9-A935-2CC26412F9BB}" srcOrd="2" destOrd="0" presId="urn:microsoft.com/office/officeart/2005/8/layout/vList2"/>
    <dgm:cxn modelId="{7E18BEEB-EBDA-4EEB-832E-B6E9F6229BDF}" type="presParOf" srcId="{2ECF5541-3558-4B43-9290-A47433EA5C90}" destId="{831DADEF-B5E2-41DF-A7B5-F07885E4422F}" srcOrd="3" destOrd="0" presId="urn:microsoft.com/office/officeart/2005/8/layout/vList2"/>
    <dgm:cxn modelId="{4072299B-D37D-4BDA-9415-F981CA5B3C06}" type="presParOf" srcId="{2ECF5541-3558-4B43-9290-A47433EA5C90}" destId="{B2F72D55-D6EE-4BE2-BCC4-9707A1888CD3}" srcOrd="4" destOrd="0" presId="urn:microsoft.com/office/officeart/2005/8/layout/vList2"/>
    <dgm:cxn modelId="{D7B483D4-647B-43D2-896F-DB4D668FA70F}" type="presParOf" srcId="{2ECF5541-3558-4B43-9290-A47433EA5C90}" destId="{50CEAD56-A5A2-43A7-BCEF-F33EC47E8EF4}" srcOrd="5" destOrd="0" presId="urn:microsoft.com/office/officeart/2005/8/layout/vList2"/>
    <dgm:cxn modelId="{7EF5C93D-A8E1-4EFD-9B5E-68A4E6FDC960}" type="presParOf" srcId="{2ECF5541-3558-4B43-9290-A47433EA5C90}" destId="{3D141E37-941C-42B0-BAB0-70DEF77FD5F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B4CA74-FA24-4CF9-A3CE-1CFB917A7220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782D97-7FF2-4DF7-9AA0-A74A8F26519F}">
      <dgm:prSet/>
      <dgm:spPr/>
      <dgm:t>
        <a:bodyPr/>
        <a:lstStyle/>
        <a:p>
          <a:r>
            <a:rPr lang="en-US"/>
            <a:t>AutoGluon explored multiple algorithms:</a:t>
          </a:r>
        </a:p>
      </dgm:t>
    </dgm:pt>
    <dgm:pt modelId="{C0C7AB2F-983A-4C2C-8912-1027BD666569}" type="parTrans" cxnId="{58FDAC6C-F36B-40DE-9867-AF3317A2133B}">
      <dgm:prSet/>
      <dgm:spPr/>
      <dgm:t>
        <a:bodyPr/>
        <a:lstStyle/>
        <a:p>
          <a:endParaRPr lang="en-US"/>
        </a:p>
      </dgm:t>
    </dgm:pt>
    <dgm:pt modelId="{CA526E91-C136-4834-BFDF-428E3FD97B05}" type="sibTrans" cxnId="{58FDAC6C-F36B-40DE-9867-AF3317A2133B}">
      <dgm:prSet/>
      <dgm:spPr/>
      <dgm:t>
        <a:bodyPr/>
        <a:lstStyle/>
        <a:p>
          <a:endParaRPr lang="en-US"/>
        </a:p>
      </dgm:t>
    </dgm:pt>
    <dgm:pt modelId="{0B1FEC98-FB4A-4C86-8A75-945468116694}">
      <dgm:prSet/>
      <dgm:spPr/>
      <dgm:t>
        <a:bodyPr/>
        <a:lstStyle/>
        <a:p>
          <a:r>
            <a:rPr lang="en-US" dirty="0"/>
            <a:t>Derivatives of Random Forest, </a:t>
          </a:r>
          <a:r>
            <a:rPr lang="en-US" dirty="0" err="1"/>
            <a:t>XGBoost</a:t>
          </a:r>
          <a:r>
            <a:rPr lang="en-US" dirty="0"/>
            <a:t>, </a:t>
          </a:r>
          <a:r>
            <a:rPr lang="en-US" dirty="0" err="1"/>
            <a:t>CatBoost</a:t>
          </a:r>
          <a:r>
            <a:rPr lang="en-US" dirty="0"/>
            <a:t>, </a:t>
          </a:r>
          <a:r>
            <a:rPr lang="en-US" dirty="0" err="1"/>
            <a:t>LightGBM</a:t>
          </a:r>
          <a:r>
            <a:rPr lang="en-US" dirty="0"/>
            <a:t>, neural networks, etc.</a:t>
          </a:r>
        </a:p>
      </dgm:t>
    </dgm:pt>
    <dgm:pt modelId="{211E68AC-8437-4D74-9D2B-A0953429E387}" type="parTrans" cxnId="{814E8094-6478-46F2-BB13-13C787832CAF}">
      <dgm:prSet/>
      <dgm:spPr/>
      <dgm:t>
        <a:bodyPr/>
        <a:lstStyle/>
        <a:p>
          <a:endParaRPr lang="en-US"/>
        </a:p>
      </dgm:t>
    </dgm:pt>
    <dgm:pt modelId="{CC5BF02D-7721-46ED-8833-695CD979EF9B}" type="sibTrans" cxnId="{814E8094-6478-46F2-BB13-13C787832CAF}">
      <dgm:prSet/>
      <dgm:spPr/>
      <dgm:t>
        <a:bodyPr/>
        <a:lstStyle/>
        <a:p>
          <a:endParaRPr lang="en-US"/>
        </a:p>
      </dgm:t>
    </dgm:pt>
    <dgm:pt modelId="{58534753-5C89-497F-A738-911EF8204DF0}">
      <dgm:prSet/>
      <dgm:spPr/>
      <dgm:t>
        <a:bodyPr/>
        <a:lstStyle/>
        <a:p>
          <a:r>
            <a:rPr lang="en-US" b="1" dirty="0"/>
            <a:t>Metric prioritized</a:t>
          </a:r>
          <a:r>
            <a:rPr lang="en-US" dirty="0"/>
            <a:t>: Balanced accuracy to handle class imbalance in training.</a:t>
          </a:r>
        </a:p>
      </dgm:t>
    </dgm:pt>
    <dgm:pt modelId="{D50E3F98-5EF2-4E0C-8674-F81EE3C16B52}" type="parTrans" cxnId="{2F6F5EAA-8075-43B6-91A9-D749E733AD37}">
      <dgm:prSet/>
      <dgm:spPr/>
      <dgm:t>
        <a:bodyPr/>
        <a:lstStyle/>
        <a:p>
          <a:endParaRPr lang="en-US"/>
        </a:p>
      </dgm:t>
    </dgm:pt>
    <dgm:pt modelId="{5AF8F67B-851B-46B4-A498-655AF0232517}" type="sibTrans" cxnId="{2F6F5EAA-8075-43B6-91A9-D749E733AD37}">
      <dgm:prSet/>
      <dgm:spPr/>
      <dgm:t>
        <a:bodyPr/>
        <a:lstStyle/>
        <a:p>
          <a:endParaRPr lang="en-US"/>
        </a:p>
      </dgm:t>
    </dgm:pt>
    <dgm:pt modelId="{A230E7CA-C058-4037-BB02-745D734EDFAC}">
      <dgm:prSet/>
      <dgm:spPr/>
      <dgm:t>
        <a:bodyPr/>
        <a:lstStyle/>
        <a:p>
          <a:r>
            <a:rPr lang="en-US"/>
            <a:t>Best model: AutoGluon using top-performing base learners.</a:t>
          </a:r>
        </a:p>
      </dgm:t>
    </dgm:pt>
    <dgm:pt modelId="{EC7139CF-C421-4459-AAF3-E860BCC79652}" type="parTrans" cxnId="{17E5D322-785F-4782-8B2F-51661C7004B2}">
      <dgm:prSet/>
      <dgm:spPr/>
      <dgm:t>
        <a:bodyPr/>
        <a:lstStyle/>
        <a:p>
          <a:endParaRPr lang="en-US"/>
        </a:p>
      </dgm:t>
    </dgm:pt>
    <dgm:pt modelId="{B19988EF-E859-4D4F-929B-4E0D3169A593}" type="sibTrans" cxnId="{17E5D322-785F-4782-8B2F-51661C7004B2}">
      <dgm:prSet/>
      <dgm:spPr/>
      <dgm:t>
        <a:bodyPr/>
        <a:lstStyle/>
        <a:p>
          <a:endParaRPr lang="en-US"/>
        </a:p>
      </dgm:t>
    </dgm:pt>
    <dgm:pt modelId="{F58B1C2E-76C9-434E-93FF-15DF808C2BFA}" type="pres">
      <dgm:prSet presAssocID="{2DB4CA74-FA24-4CF9-A3CE-1CFB917A7220}" presName="Name0" presStyleCnt="0">
        <dgm:presLayoutVars>
          <dgm:dir/>
          <dgm:animLvl val="lvl"/>
          <dgm:resizeHandles val="exact"/>
        </dgm:presLayoutVars>
      </dgm:prSet>
      <dgm:spPr/>
    </dgm:pt>
    <dgm:pt modelId="{257A5654-EA5D-44A8-84B6-D38E05B41A54}" type="pres">
      <dgm:prSet presAssocID="{EA782D97-7FF2-4DF7-9AA0-A74A8F26519F}" presName="linNode" presStyleCnt="0"/>
      <dgm:spPr/>
    </dgm:pt>
    <dgm:pt modelId="{C9DBF52C-D591-4DC9-8043-E468504F879B}" type="pres">
      <dgm:prSet presAssocID="{EA782D97-7FF2-4DF7-9AA0-A74A8F26519F}" presName="parentText" presStyleLbl="node1" presStyleIdx="0" presStyleCnt="4" custScaleX="233494">
        <dgm:presLayoutVars>
          <dgm:chMax val="1"/>
          <dgm:bulletEnabled val="1"/>
        </dgm:presLayoutVars>
      </dgm:prSet>
      <dgm:spPr/>
    </dgm:pt>
    <dgm:pt modelId="{0ED67EAE-6FC4-4A14-ABB5-F204DF743730}" type="pres">
      <dgm:prSet presAssocID="{CA526E91-C136-4834-BFDF-428E3FD97B05}" presName="sp" presStyleCnt="0"/>
      <dgm:spPr/>
    </dgm:pt>
    <dgm:pt modelId="{4C32493C-D13E-4588-BB1C-CF06E9204633}" type="pres">
      <dgm:prSet presAssocID="{0B1FEC98-FB4A-4C86-8A75-945468116694}" presName="linNode" presStyleCnt="0"/>
      <dgm:spPr/>
    </dgm:pt>
    <dgm:pt modelId="{C5445564-0720-40D3-9153-D1695966796B}" type="pres">
      <dgm:prSet presAssocID="{0B1FEC98-FB4A-4C86-8A75-945468116694}" presName="parentText" presStyleLbl="node1" presStyleIdx="1" presStyleCnt="4" custScaleX="232045">
        <dgm:presLayoutVars>
          <dgm:chMax val="1"/>
          <dgm:bulletEnabled val="1"/>
        </dgm:presLayoutVars>
      </dgm:prSet>
      <dgm:spPr/>
    </dgm:pt>
    <dgm:pt modelId="{0BBE9FB5-971B-48BC-935B-ED67D06DC280}" type="pres">
      <dgm:prSet presAssocID="{CC5BF02D-7721-46ED-8833-695CD979EF9B}" presName="sp" presStyleCnt="0"/>
      <dgm:spPr/>
    </dgm:pt>
    <dgm:pt modelId="{AC4FAA48-EC62-4DD1-9826-DEFF2D30B988}" type="pres">
      <dgm:prSet presAssocID="{58534753-5C89-497F-A738-911EF8204DF0}" presName="linNode" presStyleCnt="0"/>
      <dgm:spPr/>
    </dgm:pt>
    <dgm:pt modelId="{689BAFDE-112D-446C-A4C8-FA4A413E7CE5}" type="pres">
      <dgm:prSet presAssocID="{58534753-5C89-497F-A738-911EF8204DF0}" presName="parentText" presStyleLbl="node1" presStyleIdx="2" presStyleCnt="4" custScaleX="229358" custLinFactNeighborX="-1066" custLinFactNeighborY="-793">
        <dgm:presLayoutVars>
          <dgm:chMax val="1"/>
          <dgm:bulletEnabled val="1"/>
        </dgm:presLayoutVars>
      </dgm:prSet>
      <dgm:spPr/>
    </dgm:pt>
    <dgm:pt modelId="{9F2E79F3-DCDB-441C-A27A-7C8ECEF94657}" type="pres">
      <dgm:prSet presAssocID="{5AF8F67B-851B-46B4-A498-655AF0232517}" presName="sp" presStyleCnt="0"/>
      <dgm:spPr/>
    </dgm:pt>
    <dgm:pt modelId="{A5045CE6-4517-4FA5-8751-4BE46C345B74}" type="pres">
      <dgm:prSet presAssocID="{A230E7CA-C058-4037-BB02-745D734EDFAC}" presName="linNode" presStyleCnt="0"/>
      <dgm:spPr/>
    </dgm:pt>
    <dgm:pt modelId="{3496739A-62EB-4929-82C8-2A675F5F7460}" type="pres">
      <dgm:prSet presAssocID="{A230E7CA-C058-4037-BB02-745D734EDFAC}" presName="parentText" presStyleLbl="node1" presStyleIdx="3" presStyleCnt="4" custScaleX="236393">
        <dgm:presLayoutVars>
          <dgm:chMax val="1"/>
          <dgm:bulletEnabled val="1"/>
        </dgm:presLayoutVars>
      </dgm:prSet>
      <dgm:spPr/>
    </dgm:pt>
  </dgm:ptLst>
  <dgm:cxnLst>
    <dgm:cxn modelId="{10F7B800-FCE6-4FC3-A083-7899B9D604E6}" type="presOf" srcId="{0B1FEC98-FB4A-4C86-8A75-945468116694}" destId="{C5445564-0720-40D3-9153-D1695966796B}" srcOrd="0" destOrd="0" presId="urn:microsoft.com/office/officeart/2005/8/layout/vList5"/>
    <dgm:cxn modelId="{7ED1ED08-BAA6-426B-9510-2BC4888B9AB5}" type="presOf" srcId="{EA782D97-7FF2-4DF7-9AA0-A74A8F26519F}" destId="{C9DBF52C-D591-4DC9-8043-E468504F879B}" srcOrd="0" destOrd="0" presId="urn:microsoft.com/office/officeart/2005/8/layout/vList5"/>
    <dgm:cxn modelId="{079B511F-0803-4E3A-87FC-12BEF6BDFA27}" type="presOf" srcId="{58534753-5C89-497F-A738-911EF8204DF0}" destId="{689BAFDE-112D-446C-A4C8-FA4A413E7CE5}" srcOrd="0" destOrd="0" presId="urn:microsoft.com/office/officeart/2005/8/layout/vList5"/>
    <dgm:cxn modelId="{17E5D322-785F-4782-8B2F-51661C7004B2}" srcId="{2DB4CA74-FA24-4CF9-A3CE-1CFB917A7220}" destId="{A230E7CA-C058-4037-BB02-745D734EDFAC}" srcOrd="3" destOrd="0" parTransId="{EC7139CF-C421-4459-AAF3-E860BCC79652}" sibTransId="{B19988EF-E859-4D4F-929B-4E0D3169A593}"/>
    <dgm:cxn modelId="{58FDAC6C-F36B-40DE-9867-AF3317A2133B}" srcId="{2DB4CA74-FA24-4CF9-A3CE-1CFB917A7220}" destId="{EA782D97-7FF2-4DF7-9AA0-A74A8F26519F}" srcOrd="0" destOrd="0" parTransId="{C0C7AB2F-983A-4C2C-8912-1027BD666569}" sibTransId="{CA526E91-C136-4834-BFDF-428E3FD97B05}"/>
    <dgm:cxn modelId="{814E8094-6478-46F2-BB13-13C787832CAF}" srcId="{2DB4CA74-FA24-4CF9-A3CE-1CFB917A7220}" destId="{0B1FEC98-FB4A-4C86-8A75-945468116694}" srcOrd="1" destOrd="0" parTransId="{211E68AC-8437-4D74-9D2B-A0953429E387}" sibTransId="{CC5BF02D-7721-46ED-8833-695CD979EF9B}"/>
    <dgm:cxn modelId="{2F6F5EAA-8075-43B6-91A9-D749E733AD37}" srcId="{2DB4CA74-FA24-4CF9-A3CE-1CFB917A7220}" destId="{58534753-5C89-497F-A738-911EF8204DF0}" srcOrd="2" destOrd="0" parTransId="{D50E3F98-5EF2-4E0C-8674-F81EE3C16B52}" sibTransId="{5AF8F67B-851B-46B4-A498-655AF0232517}"/>
    <dgm:cxn modelId="{818F2DB2-8E99-4E08-A931-25B6B51769F0}" type="presOf" srcId="{A230E7CA-C058-4037-BB02-745D734EDFAC}" destId="{3496739A-62EB-4929-82C8-2A675F5F7460}" srcOrd="0" destOrd="0" presId="urn:microsoft.com/office/officeart/2005/8/layout/vList5"/>
    <dgm:cxn modelId="{DA29C4BC-CA50-4B7A-AF88-E5426F66CE28}" type="presOf" srcId="{2DB4CA74-FA24-4CF9-A3CE-1CFB917A7220}" destId="{F58B1C2E-76C9-434E-93FF-15DF808C2BFA}" srcOrd="0" destOrd="0" presId="urn:microsoft.com/office/officeart/2005/8/layout/vList5"/>
    <dgm:cxn modelId="{4AB3E4B0-96CD-4C30-8383-BE61CB64588A}" type="presParOf" srcId="{F58B1C2E-76C9-434E-93FF-15DF808C2BFA}" destId="{257A5654-EA5D-44A8-84B6-D38E05B41A54}" srcOrd="0" destOrd="0" presId="urn:microsoft.com/office/officeart/2005/8/layout/vList5"/>
    <dgm:cxn modelId="{DE1F3E23-D0BB-4276-B565-833F1BC89932}" type="presParOf" srcId="{257A5654-EA5D-44A8-84B6-D38E05B41A54}" destId="{C9DBF52C-D591-4DC9-8043-E468504F879B}" srcOrd="0" destOrd="0" presId="urn:microsoft.com/office/officeart/2005/8/layout/vList5"/>
    <dgm:cxn modelId="{778C4D66-6E23-4EC5-A587-15DACD9F8D94}" type="presParOf" srcId="{F58B1C2E-76C9-434E-93FF-15DF808C2BFA}" destId="{0ED67EAE-6FC4-4A14-ABB5-F204DF743730}" srcOrd="1" destOrd="0" presId="urn:microsoft.com/office/officeart/2005/8/layout/vList5"/>
    <dgm:cxn modelId="{F760A3AA-89DC-46D6-BE7A-077C81C645D6}" type="presParOf" srcId="{F58B1C2E-76C9-434E-93FF-15DF808C2BFA}" destId="{4C32493C-D13E-4588-BB1C-CF06E9204633}" srcOrd="2" destOrd="0" presId="urn:microsoft.com/office/officeart/2005/8/layout/vList5"/>
    <dgm:cxn modelId="{1FC058A4-1D75-4C8F-8392-A12E2EAFB15C}" type="presParOf" srcId="{4C32493C-D13E-4588-BB1C-CF06E9204633}" destId="{C5445564-0720-40D3-9153-D1695966796B}" srcOrd="0" destOrd="0" presId="urn:microsoft.com/office/officeart/2005/8/layout/vList5"/>
    <dgm:cxn modelId="{50E73D53-B04B-48B8-8800-FAE92721376A}" type="presParOf" srcId="{F58B1C2E-76C9-434E-93FF-15DF808C2BFA}" destId="{0BBE9FB5-971B-48BC-935B-ED67D06DC280}" srcOrd="3" destOrd="0" presId="urn:microsoft.com/office/officeart/2005/8/layout/vList5"/>
    <dgm:cxn modelId="{0EDC0740-B8A7-40CE-9492-2DDACFBF1612}" type="presParOf" srcId="{F58B1C2E-76C9-434E-93FF-15DF808C2BFA}" destId="{AC4FAA48-EC62-4DD1-9826-DEFF2D30B988}" srcOrd="4" destOrd="0" presId="urn:microsoft.com/office/officeart/2005/8/layout/vList5"/>
    <dgm:cxn modelId="{253A2B0B-B94C-4E9A-9024-E1411A494B58}" type="presParOf" srcId="{AC4FAA48-EC62-4DD1-9826-DEFF2D30B988}" destId="{689BAFDE-112D-446C-A4C8-FA4A413E7CE5}" srcOrd="0" destOrd="0" presId="urn:microsoft.com/office/officeart/2005/8/layout/vList5"/>
    <dgm:cxn modelId="{6519B40A-0855-4883-9392-0FBE51EFC13D}" type="presParOf" srcId="{F58B1C2E-76C9-434E-93FF-15DF808C2BFA}" destId="{9F2E79F3-DCDB-441C-A27A-7C8ECEF94657}" srcOrd="5" destOrd="0" presId="urn:microsoft.com/office/officeart/2005/8/layout/vList5"/>
    <dgm:cxn modelId="{F4D1FCE7-B717-4CCB-AE56-AEB4B076988A}" type="presParOf" srcId="{F58B1C2E-76C9-434E-93FF-15DF808C2BFA}" destId="{A5045CE6-4517-4FA5-8751-4BE46C345B74}" srcOrd="6" destOrd="0" presId="urn:microsoft.com/office/officeart/2005/8/layout/vList5"/>
    <dgm:cxn modelId="{7C1073C1-ABBC-41D4-9659-32C8ED9A989F}" type="presParOf" srcId="{A5045CE6-4517-4FA5-8751-4BE46C345B74}" destId="{3496739A-62EB-4929-82C8-2A675F5F746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6DB2CA8-DEA6-431E-9E67-A0B5FC92CE6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5CE483-2D9A-4B9F-8F4C-BA14C5ABC5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Limitations with Autogluon model.</a:t>
          </a:r>
        </a:p>
      </dgm:t>
    </dgm:pt>
    <dgm:pt modelId="{7D0124AB-8193-4162-8440-277026C32FFE}" type="parTrans" cxnId="{3A5B09C0-D952-4B7B-A99B-3DB7DA68E2F2}">
      <dgm:prSet/>
      <dgm:spPr/>
      <dgm:t>
        <a:bodyPr/>
        <a:lstStyle/>
        <a:p>
          <a:endParaRPr lang="en-US"/>
        </a:p>
      </dgm:t>
    </dgm:pt>
    <dgm:pt modelId="{9236F38B-211C-4451-9BEB-798C906B4FC5}" type="sibTrans" cxnId="{3A5B09C0-D952-4B7B-A99B-3DB7DA68E2F2}">
      <dgm:prSet/>
      <dgm:spPr/>
      <dgm:t>
        <a:bodyPr/>
        <a:lstStyle/>
        <a:p>
          <a:endParaRPr lang="en-US"/>
        </a:p>
      </dgm:t>
    </dgm:pt>
    <dgm:pt modelId="{8092D0C0-44F5-4439-9078-8C13D4874D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Streamlit app development was a challenge.</a:t>
          </a:r>
        </a:p>
      </dgm:t>
    </dgm:pt>
    <dgm:pt modelId="{9CC895EB-71A9-4F79-AE24-64597706C313}" type="parTrans" cxnId="{811FD3CF-C39B-4794-AC38-9602570E41BE}">
      <dgm:prSet/>
      <dgm:spPr/>
      <dgm:t>
        <a:bodyPr/>
        <a:lstStyle/>
        <a:p>
          <a:endParaRPr lang="en-US"/>
        </a:p>
      </dgm:t>
    </dgm:pt>
    <dgm:pt modelId="{A9C124DC-C4BD-416F-83E6-BEB8BEC5513B}" type="sibTrans" cxnId="{811FD3CF-C39B-4794-AC38-9602570E41BE}">
      <dgm:prSet/>
      <dgm:spPr/>
      <dgm:t>
        <a:bodyPr/>
        <a:lstStyle/>
        <a:p>
          <a:endParaRPr lang="en-US"/>
        </a:p>
      </dgm:t>
    </dgm:pt>
    <dgm:pt modelId="{0DCE0CB6-19AE-416C-9D32-343F34F41A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7 multiclass task posed challenges with computing class performances and outputting results. </a:t>
          </a:r>
        </a:p>
      </dgm:t>
    </dgm:pt>
    <dgm:pt modelId="{4E07567B-E7A6-473B-B6E2-3E07FD46F474}" type="parTrans" cxnId="{5CF74F8A-BB43-4B30-9410-D2C2511D3208}">
      <dgm:prSet/>
      <dgm:spPr/>
      <dgm:t>
        <a:bodyPr/>
        <a:lstStyle/>
        <a:p>
          <a:endParaRPr lang="en-US"/>
        </a:p>
      </dgm:t>
    </dgm:pt>
    <dgm:pt modelId="{CAD57C00-C51A-4D7E-AEFE-76483E8543D3}" type="sibTrans" cxnId="{5CF74F8A-BB43-4B30-9410-D2C2511D3208}">
      <dgm:prSet/>
      <dgm:spPr/>
      <dgm:t>
        <a:bodyPr/>
        <a:lstStyle/>
        <a:p>
          <a:endParaRPr lang="en-US"/>
        </a:p>
      </dgm:t>
    </dgm:pt>
    <dgm:pt modelId="{8B47D1AD-E9B9-4F24-8A81-B1051A4F8C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raw data, including categorical values fed into Autogluon made SHAP computation and plot very challenging.</a:t>
          </a:r>
        </a:p>
      </dgm:t>
    </dgm:pt>
    <dgm:pt modelId="{43FFF289-9230-454B-9226-DF75487A3003}" type="parTrans" cxnId="{25EAA9B5-0AE9-4137-BF24-FBBCEC2621C8}">
      <dgm:prSet/>
      <dgm:spPr/>
      <dgm:t>
        <a:bodyPr/>
        <a:lstStyle/>
        <a:p>
          <a:endParaRPr lang="en-US"/>
        </a:p>
      </dgm:t>
    </dgm:pt>
    <dgm:pt modelId="{21DA177C-F93B-442E-AC1B-A03E92706FD2}" type="sibTrans" cxnId="{25EAA9B5-0AE9-4137-BF24-FBBCEC2621C8}">
      <dgm:prSet/>
      <dgm:spPr/>
      <dgm:t>
        <a:bodyPr/>
        <a:lstStyle/>
        <a:p>
          <a:endParaRPr lang="en-US"/>
        </a:p>
      </dgm:t>
    </dgm:pt>
    <dgm:pt modelId="{73EB1C9A-4569-4DCD-B57F-B62A8C1AF4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Integrated LIME and perturbation analysis plots XAI in streamlit may not be ideal for clinical deployment.</a:t>
          </a:r>
        </a:p>
      </dgm:t>
    </dgm:pt>
    <dgm:pt modelId="{D207E97E-9567-49C8-99AE-18B0E72314B8}" type="parTrans" cxnId="{5EF207F8-B0BA-4DB1-9886-57AA4C134B2F}">
      <dgm:prSet/>
      <dgm:spPr/>
      <dgm:t>
        <a:bodyPr/>
        <a:lstStyle/>
        <a:p>
          <a:endParaRPr lang="en-US"/>
        </a:p>
      </dgm:t>
    </dgm:pt>
    <dgm:pt modelId="{C60B1623-C4A8-4CEE-8B2C-1134C84A3800}" type="sibTrans" cxnId="{5EF207F8-B0BA-4DB1-9886-57AA4C134B2F}">
      <dgm:prSet/>
      <dgm:spPr/>
      <dgm:t>
        <a:bodyPr/>
        <a:lstStyle/>
        <a:p>
          <a:endParaRPr lang="en-US"/>
        </a:p>
      </dgm:t>
    </dgm:pt>
    <dgm:pt modelId="{79A2E4F1-C73C-4489-8ED3-39730AABEA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Time constraints for robust development.</a:t>
          </a:r>
        </a:p>
      </dgm:t>
    </dgm:pt>
    <dgm:pt modelId="{A4C31D5F-7F2D-4CF9-99D8-63EDA47D7AD0}" type="parTrans" cxnId="{853C410A-4531-4018-B3AD-CD902734CD70}">
      <dgm:prSet/>
      <dgm:spPr/>
      <dgm:t>
        <a:bodyPr/>
        <a:lstStyle/>
        <a:p>
          <a:endParaRPr lang="en-US"/>
        </a:p>
      </dgm:t>
    </dgm:pt>
    <dgm:pt modelId="{83908DA7-72EC-48DF-A53C-23A481F3E159}" type="sibTrans" cxnId="{853C410A-4531-4018-B3AD-CD902734CD70}">
      <dgm:prSet/>
      <dgm:spPr/>
      <dgm:t>
        <a:bodyPr/>
        <a:lstStyle/>
        <a:p>
          <a:endParaRPr lang="en-US"/>
        </a:p>
      </dgm:t>
    </dgm:pt>
    <dgm:pt modelId="{2EAADB65-7C47-4C3A-B2B6-0C66F0538049}" type="pres">
      <dgm:prSet presAssocID="{96DB2CA8-DEA6-431E-9E67-A0B5FC92CE6A}" presName="root" presStyleCnt="0">
        <dgm:presLayoutVars>
          <dgm:dir/>
          <dgm:resizeHandles val="exact"/>
        </dgm:presLayoutVars>
      </dgm:prSet>
      <dgm:spPr/>
    </dgm:pt>
    <dgm:pt modelId="{A299B1BF-84E9-40A3-AD2E-B09BD0466167}" type="pres">
      <dgm:prSet presAssocID="{765CE483-2D9A-4B9F-8F4C-BA14C5ABC5BE}" presName="compNode" presStyleCnt="0"/>
      <dgm:spPr/>
    </dgm:pt>
    <dgm:pt modelId="{CF8A989D-F9B0-4B45-8F5D-CB1314BC4116}" type="pres">
      <dgm:prSet presAssocID="{765CE483-2D9A-4B9F-8F4C-BA14C5ABC5BE}" presName="bgRect" presStyleLbl="bgShp" presStyleIdx="0" presStyleCnt="6"/>
      <dgm:spPr/>
    </dgm:pt>
    <dgm:pt modelId="{CBDEDEFE-BAAD-413F-83D5-5D14293B2F5B}" type="pres">
      <dgm:prSet presAssocID="{765CE483-2D9A-4B9F-8F4C-BA14C5ABC5B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3B7C587-F68C-4925-9CC3-C847F6036890}" type="pres">
      <dgm:prSet presAssocID="{765CE483-2D9A-4B9F-8F4C-BA14C5ABC5BE}" presName="spaceRect" presStyleCnt="0"/>
      <dgm:spPr/>
    </dgm:pt>
    <dgm:pt modelId="{7C8F1636-39D9-495B-A5FD-DBBA114ABB3B}" type="pres">
      <dgm:prSet presAssocID="{765CE483-2D9A-4B9F-8F4C-BA14C5ABC5BE}" presName="parTx" presStyleLbl="revTx" presStyleIdx="0" presStyleCnt="6">
        <dgm:presLayoutVars>
          <dgm:chMax val="0"/>
          <dgm:chPref val="0"/>
        </dgm:presLayoutVars>
      </dgm:prSet>
      <dgm:spPr/>
    </dgm:pt>
    <dgm:pt modelId="{73CEC99E-1B4D-4EC1-B75D-57C54B5D1579}" type="pres">
      <dgm:prSet presAssocID="{9236F38B-211C-4451-9BEB-798C906B4FC5}" presName="sibTrans" presStyleCnt="0"/>
      <dgm:spPr/>
    </dgm:pt>
    <dgm:pt modelId="{256CAB6C-18C7-4D31-83DC-2A22C8943778}" type="pres">
      <dgm:prSet presAssocID="{8092D0C0-44F5-4439-9078-8C13D4874D44}" presName="compNode" presStyleCnt="0"/>
      <dgm:spPr/>
    </dgm:pt>
    <dgm:pt modelId="{5B223CD8-6D81-4C1F-82E8-F45ED8AE647B}" type="pres">
      <dgm:prSet presAssocID="{8092D0C0-44F5-4439-9078-8C13D4874D44}" presName="bgRect" presStyleLbl="bgShp" presStyleIdx="1" presStyleCnt="6"/>
      <dgm:spPr/>
    </dgm:pt>
    <dgm:pt modelId="{5DF7C81F-F827-4661-BAD2-57DFB33DE71D}" type="pres">
      <dgm:prSet presAssocID="{8092D0C0-44F5-4439-9078-8C13D4874D4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E0FBD9E-2012-404F-ADB0-241DC1B12685}" type="pres">
      <dgm:prSet presAssocID="{8092D0C0-44F5-4439-9078-8C13D4874D44}" presName="spaceRect" presStyleCnt="0"/>
      <dgm:spPr/>
    </dgm:pt>
    <dgm:pt modelId="{75BB01B9-C511-4C38-A952-6BE132D0E0A2}" type="pres">
      <dgm:prSet presAssocID="{8092D0C0-44F5-4439-9078-8C13D4874D44}" presName="parTx" presStyleLbl="revTx" presStyleIdx="1" presStyleCnt="6">
        <dgm:presLayoutVars>
          <dgm:chMax val="0"/>
          <dgm:chPref val="0"/>
        </dgm:presLayoutVars>
      </dgm:prSet>
      <dgm:spPr/>
    </dgm:pt>
    <dgm:pt modelId="{13EFB8AB-F6AE-4E88-A0B2-61EE79603E4B}" type="pres">
      <dgm:prSet presAssocID="{A9C124DC-C4BD-416F-83E6-BEB8BEC5513B}" presName="sibTrans" presStyleCnt="0"/>
      <dgm:spPr/>
    </dgm:pt>
    <dgm:pt modelId="{B4F6FEF6-53F3-4872-8C8F-2F83D6F1A798}" type="pres">
      <dgm:prSet presAssocID="{0DCE0CB6-19AE-416C-9D32-343F34F41A0B}" presName="compNode" presStyleCnt="0"/>
      <dgm:spPr/>
    </dgm:pt>
    <dgm:pt modelId="{A81EB569-901A-4726-A77B-7058AA651A3C}" type="pres">
      <dgm:prSet presAssocID="{0DCE0CB6-19AE-416C-9D32-343F34F41A0B}" presName="bgRect" presStyleLbl="bgShp" presStyleIdx="2" presStyleCnt="6"/>
      <dgm:spPr/>
    </dgm:pt>
    <dgm:pt modelId="{F0D2B800-67AA-468F-82CF-D25139EDB5CA}" type="pres">
      <dgm:prSet presAssocID="{0DCE0CB6-19AE-416C-9D32-343F34F41A0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F8D1C4B-5730-4512-B4DB-70C51D7CC813}" type="pres">
      <dgm:prSet presAssocID="{0DCE0CB6-19AE-416C-9D32-343F34F41A0B}" presName="spaceRect" presStyleCnt="0"/>
      <dgm:spPr/>
    </dgm:pt>
    <dgm:pt modelId="{98702450-B403-4860-B736-0FFFA8BC2C11}" type="pres">
      <dgm:prSet presAssocID="{0DCE0CB6-19AE-416C-9D32-343F34F41A0B}" presName="parTx" presStyleLbl="revTx" presStyleIdx="2" presStyleCnt="6">
        <dgm:presLayoutVars>
          <dgm:chMax val="0"/>
          <dgm:chPref val="0"/>
        </dgm:presLayoutVars>
      </dgm:prSet>
      <dgm:spPr/>
    </dgm:pt>
    <dgm:pt modelId="{460BB889-96BE-452C-8D96-E958D9A32C78}" type="pres">
      <dgm:prSet presAssocID="{CAD57C00-C51A-4D7E-AEFE-76483E8543D3}" presName="sibTrans" presStyleCnt="0"/>
      <dgm:spPr/>
    </dgm:pt>
    <dgm:pt modelId="{A3E6C8C6-54DB-4CF1-A488-6EFB47A88E07}" type="pres">
      <dgm:prSet presAssocID="{8B47D1AD-E9B9-4F24-8A81-B1051A4F8CEB}" presName="compNode" presStyleCnt="0"/>
      <dgm:spPr/>
    </dgm:pt>
    <dgm:pt modelId="{5F88A6AA-386A-4592-BF4A-A49CCC1009A6}" type="pres">
      <dgm:prSet presAssocID="{8B47D1AD-E9B9-4F24-8A81-B1051A4F8CEB}" presName="bgRect" presStyleLbl="bgShp" presStyleIdx="3" presStyleCnt="6"/>
      <dgm:spPr/>
    </dgm:pt>
    <dgm:pt modelId="{6198928D-16BF-4991-A139-523919D7D045}" type="pres">
      <dgm:prSet presAssocID="{8B47D1AD-E9B9-4F24-8A81-B1051A4F8CE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4925B68-2132-4554-BB9E-3B6DA5D71646}" type="pres">
      <dgm:prSet presAssocID="{8B47D1AD-E9B9-4F24-8A81-B1051A4F8CEB}" presName="spaceRect" presStyleCnt="0"/>
      <dgm:spPr/>
    </dgm:pt>
    <dgm:pt modelId="{192B65D3-AAC2-4F56-85EA-2C3B24550FB0}" type="pres">
      <dgm:prSet presAssocID="{8B47D1AD-E9B9-4F24-8A81-B1051A4F8CEB}" presName="parTx" presStyleLbl="revTx" presStyleIdx="3" presStyleCnt="6">
        <dgm:presLayoutVars>
          <dgm:chMax val="0"/>
          <dgm:chPref val="0"/>
        </dgm:presLayoutVars>
      </dgm:prSet>
      <dgm:spPr/>
    </dgm:pt>
    <dgm:pt modelId="{44A27D4D-73D8-48EA-A654-50F5E0A74849}" type="pres">
      <dgm:prSet presAssocID="{21DA177C-F93B-442E-AC1B-A03E92706FD2}" presName="sibTrans" presStyleCnt="0"/>
      <dgm:spPr/>
    </dgm:pt>
    <dgm:pt modelId="{54754BD2-4B3F-4D34-812D-2ED69DBA03D3}" type="pres">
      <dgm:prSet presAssocID="{73EB1C9A-4569-4DCD-B57F-B62A8C1AF4B9}" presName="compNode" presStyleCnt="0"/>
      <dgm:spPr/>
    </dgm:pt>
    <dgm:pt modelId="{96942B3B-47BE-456D-91B6-401E6CB30FA0}" type="pres">
      <dgm:prSet presAssocID="{73EB1C9A-4569-4DCD-B57F-B62A8C1AF4B9}" presName="bgRect" presStyleLbl="bgShp" presStyleIdx="4" presStyleCnt="6"/>
      <dgm:spPr/>
    </dgm:pt>
    <dgm:pt modelId="{736A2D73-6D9F-4873-9BF6-E5F9EC6E7266}" type="pres">
      <dgm:prSet presAssocID="{73EB1C9A-4569-4DCD-B57F-B62A8C1AF4B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ACB57A8A-8AEB-4244-877C-829D5935F370}" type="pres">
      <dgm:prSet presAssocID="{73EB1C9A-4569-4DCD-B57F-B62A8C1AF4B9}" presName="spaceRect" presStyleCnt="0"/>
      <dgm:spPr/>
    </dgm:pt>
    <dgm:pt modelId="{A50A6CFE-339D-4FEE-BC39-1C701D710ACB}" type="pres">
      <dgm:prSet presAssocID="{73EB1C9A-4569-4DCD-B57F-B62A8C1AF4B9}" presName="parTx" presStyleLbl="revTx" presStyleIdx="4" presStyleCnt="6">
        <dgm:presLayoutVars>
          <dgm:chMax val="0"/>
          <dgm:chPref val="0"/>
        </dgm:presLayoutVars>
      </dgm:prSet>
      <dgm:spPr/>
    </dgm:pt>
    <dgm:pt modelId="{E408DCBC-3BAC-46E8-9A00-344FC9497E66}" type="pres">
      <dgm:prSet presAssocID="{C60B1623-C4A8-4CEE-8B2C-1134C84A3800}" presName="sibTrans" presStyleCnt="0"/>
      <dgm:spPr/>
    </dgm:pt>
    <dgm:pt modelId="{E82E144F-FEA7-42A3-8FBC-0BB84065148B}" type="pres">
      <dgm:prSet presAssocID="{79A2E4F1-C73C-4489-8ED3-39730AABEAA8}" presName="compNode" presStyleCnt="0"/>
      <dgm:spPr/>
    </dgm:pt>
    <dgm:pt modelId="{3F5DE1D7-9D4D-4154-86CD-D37BB36E2F2C}" type="pres">
      <dgm:prSet presAssocID="{79A2E4F1-C73C-4489-8ED3-39730AABEAA8}" presName="bgRect" presStyleLbl="bgShp" presStyleIdx="5" presStyleCnt="6"/>
      <dgm:spPr/>
    </dgm:pt>
    <dgm:pt modelId="{B234E4F0-388C-4916-B391-8F0F159D1645}" type="pres">
      <dgm:prSet presAssocID="{79A2E4F1-C73C-4489-8ED3-39730AABEAA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7C32E1CF-B68F-466D-BF39-99E75FC20076}" type="pres">
      <dgm:prSet presAssocID="{79A2E4F1-C73C-4489-8ED3-39730AABEAA8}" presName="spaceRect" presStyleCnt="0"/>
      <dgm:spPr/>
    </dgm:pt>
    <dgm:pt modelId="{6CF8DD67-2DAF-40BF-A508-928682962A54}" type="pres">
      <dgm:prSet presAssocID="{79A2E4F1-C73C-4489-8ED3-39730AABEAA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53C410A-4531-4018-B3AD-CD902734CD70}" srcId="{96DB2CA8-DEA6-431E-9E67-A0B5FC92CE6A}" destId="{79A2E4F1-C73C-4489-8ED3-39730AABEAA8}" srcOrd="5" destOrd="0" parTransId="{A4C31D5F-7F2D-4CF9-99D8-63EDA47D7AD0}" sibTransId="{83908DA7-72EC-48DF-A53C-23A481F3E159}"/>
    <dgm:cxn modelId="{614CDE23-1BC8-440F-9C48-049196F0A82E}" type="presOf" srcId="{8B47D1AD-E9B9-4F24-8A81-B1051A4F8CEB}" destId="{192B65D3-AAC2-4F56-85EA-2C3B24550FB0}" srcOrd="0" destOrd="0" presId="urn:microsoft.com/office/officeart/2018/2/layout/IconVerticalSolidList"/>
    <dgm:cxn modelId="{7D013761-8FCB-4F10-ABF7-93574254C35B}" type="presOf" srcId="{79A2E4F1-C73C-4489-8ED3-39730AABEAA8}" destId="{6CF8DD67-2DAF-40BF-A508-928682962A54}" srcOrd="0" destOrd="0" presId="urn:microsoft.com/office/officeart/2018/2/layout/IconVerticalSolidList"/>
    <dgm:cxn modelId="{8E4A6962-8BB5-4F0D-9483-50A91181CFC3}" type="presOf" srcId="{73EB1C9A-4569-4DCD-B57F-B62A8C1AF4B9}" destId="{A50A6CFE-339D-4FEE-BC39-1C701D710ACB}" srcOrd="0" destOrd="0" presId="urn:microsoft.com/office/officeart/2018/2/layout/IconVerticalSolidList"/>
    <dgm:cxn modelId="{F669986E-7455-403F-9766-F2C8F36F1DD2}" type="presOf" srcId="{765CE483-2D9A-4B9F-8F4C-BA14C5ABC5BE}" destId="{7C8F1636-39D9-495B-A5FD-DBBA114ABB3B}" srcOrd="0" destOrd="0" presId="urn:microsoft.com/office/officeart/2018/2/layout/IconVerticalSolidList"/>
    <dgm:cxn modelId="{5CF74F8A-BB43-4B30-9410-D2C2511D3208}" srcId="{96DB2CA8-DEA6-431E-9E67-A0B5FC92CE6A}" destId="{0DCE0CB6-19AE-416C-9D32-343F34F41A0B}" srcOrd="2" destOrd="0" parTransId="{4E07567B-E7A6-473B-B6E2-3E07FD46F474}" sibTransId="{CAD57C00-C51A-4D7E-AEFE-76483E8543D3}"/>
    <dgm:cxn modelId="{AA475097-68F2-4367-AFFB-910AB9FF1C2C}" type="presOf" srcId="{0DCE0CB6-19AE-416C-9D32-343F34F41A0B}" destId="{98702450-B403-4860-B736-0FFFA8BC2C11}" srcOrd="0" destOrd="0" presId="urn:microsoft.com/office/officeart/2018/2/layout/IconVerticalSolidList"/>
    <dgm:cxn modelId="{25EAA9B5-0AE9-4137-BF24-FBBCEC2621C8}" srcId="{96DB2CA8-DEA6-431E-9E67-A0B5FC92CE6A}" destId="{8B47D1AD-E9B9-4F24-8A81-B1051A4F8CEB}" srcOrd="3" destOrd="0" parTransId="{43FFF289-9230-454B-9226-DF75487A3003}" sibTransId="{21DA177C-F93B-442E-AC1B-A03E92706FD2}"/>
    <dgm:cxn modelId="{3A5B09C0-D952-4B7B-A99B-3DB7DA68E2F2}" srcId="{96DB2CA8-DEA6-431E-9E67-A0B5FC92CE6A}" destId="{765CE483-2D9A-4B9F-8F4C-BA14C5ABC5BE}" srcOrd="0" destOrd="0" parTransId="{7D0124AB-8193-4162-8440-277026C32FFE}" sibTransId="{9236F38B-211C-4451-9BEB-798C906B4FC5}"/>
    <dgm:cxn modelId="{C3BFB9CC-14E4-4FE0-A76C-468AAEDAE9AC}" type="presOf" srcId="{96DB2CA8-DEA6-431E-9E67-A0B5FC92CE6A}" destId="{2EAADB65-7C47-4C3A-B2B6-0C66F0538049}" srcOrd="0" destOrd="0" presId="urn:microsoft.com/office/officeart/2018/2/layout/IconVerticalSolidList"/>
    <dgm:cxn modelId="{811FD3CF-C39B-4794-AC38-9602570E41BE}" srcId="{96DB2CA8-DEA6-431E-9E67-A0B5FC92CE6A}" destId="{8092D0C0-44F5-4439-9078-8C13D4874D44}" srcOrd="1" destOrd="0" parTransId="{9CC895EB-71A9-4F79-AE24-64597706C313}" sibTransId="{A9C124DC-C4BD-416F-83E6-BEB8BEC5513B}"/>
    <dgm:cxn modelId="{753C05E6-781E-4F0A-B0B0-2AFEB66A8C75}" type="presOf" srcId="{8092D0C0-44F5-4439-9078-8C13D4874D44}" destId="{75BB01B9-C511-4C38-A952-6BE132D0E0A2}" srcOrd="0" destOrd="0" presId="urn:microsoft.com/office/officeart/2018/2/layout/IconVerticalSolidList"/>
    <dgm:cxn modelId="{5EF207F8-B0BA-4DB1-9886-57AA4C134B2F}" srcId="{96DB2CA8-DEA6-431E-9E67-A0B5FC92CE6A}" destId="{73EB1C9A-4569-4DCD-B57F-B62A8C1AF4B9}" srcOrd="4" destOrd="0" parTransId="{D207E97E-9567-49C8-99AE-18B0E72314B8}" sibTransId="{C60B1623-C4A8-4CEE-8B2C-1134C84A3800}"/>
    <dgm:cxn modelId="{849F10E7-CA85-4F8E-A841-FDA22E0519F1}" type="presParOf" srcId="{2EAADB65-7C47-4C3A-B2B6-0C66F0538049}" destId="{A299B1BF-84E9-40A3-AD2E-B09BD0466167}" srcOrd="0" destOrd="0" presId="urn:microsoft.com/office/officeart/2018/2/layout/IconVerticalSolidList"/>
    <dgm:cxn modelId="{E164223B-7FBF-4AF1-B433-450E1842F780}" type="presParOf" srcId="{A299B1BF-84E9-40A3-AD2E-B09BD0466167}" destId="{CF8A989D-F9B0-4B45-8F5D-CB1314BC4116}" srcOrd="0" destOrd="0" presId="urn:microsoft.com/office/officeart/2018/2/layout/IconVerticalSolidList"/>
    <dgm:cxn modelId="{D8EAAE26-9D35-407E-A14F-922D5B10E7FE}" type="presParOf" srcId="{A299B1BF-84E9-40A3-AD2E-B09BD0466167}" destId="{CBDEDEFE-BAAD-413F-83D5-5D14293B2F5B}" srcOrd="1" destOrd="0" presId="urn:microsoft.com/office/officeart/2018/2/layout/IconVerticalSolidList"/>
    <dgm:cxn modelId="{57C400B3-9E08-4071-B64E-0ADB6574BF20}" type="presParOf" srcId="{A299B1BF-84E9-40A3-AD2E-B09BD0466167}" destId="{73B7C587-F68C-4925-9CC3-C847F6036890}" srcOrd="2" destOrd="0" presId="urn:microsoft.com/office/officeart/2018/2/layout/IconVerticalSolidList"/>
    <dgm:cxn modelId="{06D6B1ED-E0E1-4CB2-9F4C-70DD6A9CC41C}" type="presParOf" srcId="{A299B1BF-84E9-40A3-AD2E-B09BD0466167}" destId="{7C8F1636-39D9-495B-A5FD-DBBA114ABB3B}" srcOrd="3" destOrd="0" presId="urn:microsoft.com/office/officeart/2018/2/layout/IconVerticalSolidList"/>
    <dgm:cxn modelId="{84DC5EB0-9419-4830-8E64-9C55DC638044}" type="presParOf" srcId="{2EAADB65-7C47-4C3A-B2B6-0C66F0538049}" destId="{73CEC99E-1B4D-4EC1-B75D-57C54B5D1579}" srcOrd="1" destOrd="0" presId="urn:microsoft.com/office/officeart/2018/2/layout/IconVerticalSolidList"/>
    <dgm:cxn modelId="{226009F9-AB00-4CF1-BF38-CB0D8752AE31}" type="presParOf" srcId="{2EAADB65-7C47-4C3A-B2B6-0C66F0538049}" destId="{256CAB6C-18C7-4D31-83DC-2A22C8943778}" srcOrd="2" destOrd="0" presId="urn:microsoft.com/office/officeart/2018/2/layout/IconVerticalSolidList"/>
    <dgm:cxn modelId="{42E46B84-A772-4934-9CE0-1FF1FD6EF088}" type="presParOf" srcId="{256CAB6C-18C7-4D31-83DC-2A22C8943778}" destId="{5B223CD8-6D81-4C1F-82E8-F45ED8AE647B}" srcOrd="0" destOrd="0" presId="urn:microsoft.com/office/officeart/2018/2/layout/IconVerticalSolidList"/>
    <dgm:cxn modelId="{69B2401D-FDF7-4B25-8A77-4019A601CE50}" type="presParOf" srcId="{256CAB6C-18C7-4D31-83DC-2A22C8943778}" destId="{5DF7C81F-F827-4661-BAD2-57DFB33DE71D}" srcOrd="1" destOrd="0" presId="urn:microsoft.com/office/officeart/2018/2/layout/IconVerticalSolidList"/>
    <dgm:cxn modelId="{7DEDAE4C-DE11-4822-9E3F-3DE0C424B1B4}" type="presParOf" srcId="{256CAB6C-18C7-4D31-83DC-2A22C8943778}" destId="{3E0FBD9E-2012-404F-ADB0-241DC1B12685}" srcOrd="2" destOrd="0" presId="urn:microsoft.com/office/officeart/2018/2/layout/IconVerticalSolidList"/>
    <dgm:cxn modelId="{53914BB1-BF7E-4EF6-9DA4-AC456AF28BC2}" type="presParOf" srcId="{256CAB6C-18C7-4D31-83DC-2A22C8943778}" destId="{75BB01B9-C511-4C38-A952-6BE132D0E0A2}" srcOrd="3" destOrd="0" presId="urn:microsoft.com/office/officeart/2018/2/layout/IconVerticalSolidList"/>
    <dgm:cxn modelId="{5EE2759F-1F30-4194-9066-7BE7C4BDF242}" type="presParOf" srcId="{2EAADB65-7C47-4C3A-B2B6-0C66F0538049}" destId="{13EFB8AB-F6AE-4E88-A0B2-61EE79603E4B}" srcOrd="3" destOrd="0" presId="urn:microsoft.com/office/officeart/2018/2/layout/IconVerticalSolidList"/>
    <dgm:cxn modelId="{AD9F5FC8-6E6D-4BCF-AB69-408A2ADF1E0D}" type="presParOf" srcId="{2EAADB65-7C47-4C3A-B2B6-0C66F0538049}" destId="{B4F6FEF6-53F3-4872-8C8F-2F83D6F1A798}" srcOrd="4" destOrd="0" presId="urn:microsoft.com/office/officeart/2018/2/layout/IconVerticalSolidList"/>
    <dgm:cxn modelId="{580A72AC-11EA-412D-84D5-1CA4A5EBF67C}" type="presParOf" srcId="{B4F6FEF6-53F3-4872-8C8F-2F83D6F1A798}" destId="{A81EB569-901A-4726-A77B-7058AA651A3C}" srcOrd="0" destOrd="0" presId="urn:microsoft.com/office/officeart/2018/2/layout/IconVerticalSolidList"/>
    <dgm:cxn modelId="{CA351713-3FBE-42C8-99FD-C92A97DA2F41}" type="presParOf" srcId="{B4F6FEF6-53F3-4872-8C8F-2F83D6F1A798}" destId="{F0D2B800-67AA-468F-82CF-D25139EDB5CA}" srcOrd="1" destOrd="0" presId="urn:microsoft.com/office/officeart/2018/2/layout/IconVerticalSolidList"/>
    <dgm:cxn modelId="{D4621881-0859-4F61-9118-BB126DFAE8A2}" type="presParOf" srcId="{B4F6FEF6-53F3-4872-8C8F-2F83D6F1A798}" destId="{5F8D1C4B-5730-4512-B4DB-70C51D7CC813}" srcOrd="2" destOrd="0" presId="urn:microsoft.com/office/officeart/2018/2/layout/IconVerticalSolidList"/>
    <dgm:cxn modelId="{281A973B-4523-4B52-BF20-B4BB63123C49}" type="presParOf" srcId="{B4F6FEF6-53F3-4872-8C8F-2F83D6F1A798}" destId="{98702450-B403-4860-B736-0FFFA8BC2C11}" srcOrd="3" destOrd="0" presId="urn:microsoft.com/office/officeart/2018/2/layout/IconVerticalSolidList"/>
    <dgm:cxn modelId="{63A702BF-186E-43C9-8C71-ED97F6DAC5AE}" type="presParOf" srcId="{2EAADB65-7C47-4C3A-B2B6-0C66F0538049}" destId="{460BB889-96BE-452C-8D96-E958D9A32C78}" srcOrd="5" destOrd="0" presId="urn:microsoft.com/office/officeart/2018/2/layout/IconVerticalSolidList"/>
    <dgm:cxn modelId="{227E7AD8-8C61-4C96-BC74-6FC35625D535}" type="presParOf" srcId="{2EAADB65-7C47-4C3A-B2B6-0C66F0538049}" destId="{A3E6C8C6-54DB-4CF1-A488-6EFB47A88E07}" srcOrd="6" destOrd="0" presId="urn:microsoft.com/office/officeart/2018/2/layout/IconVerticalSolidList"/>
    <dgm:cxn modelId="{E07004E2-044C-4182-9D8F-F65388F25A5F}" type="presParOf" srcId="{A3E6C8C6-54DB-4CF1-A488-6EFB47A88E07}" destId="{5F88A6AA-386A-4592-BF4A-A49CCC1009A6}" srcOrd="0" destOrd="0" presId="urn:microsoft.com/office/officeart/2018/2/layout/IconVerticalSolidList"/>
    <dgm:cxn modelId="{91A97C2C-969F-4806-909A-9DAEB962B8F1}" type="presParOf" srcId="{A3E6C8C6-54DB-4CF1-A488-6EFB47A88E07}" destId="{6198928D-16BF-4991-A139-523919D7D045}" srcOrd="1" destOrd="0" presId="urn:microsoft.com/office/officeart/2018/2/layout/IconVerticalSolidList"/>
    <dgm:cxn modelId="{F6562EC4-F522-45AC-85DD-0BA6E85610B7}" type="presParOf" srcId="{A3E6C8C6-54DB-4CF1-A488-6EFB47A88E07}" destId="{84925B68-2132-4554-BB9E-3B6DA5D71646}" srcOrd="2" destOrd="0" presId="urn:microsoft.com/office/officeart/2018/2/layout/IconVerticalSolidList"/>
    <dgm:cxn modelId="{B6BD2A08-A4A3-4F69-849A-DF13B308B857}" type="presParOf" srcId="{A3E6C8C6-54DB-4CF1-A488-6EFB47A88E07}" destId="{192B65D3-AAC2-4F56-85EA-2C3B24550FB0}" srcOrd="3" destOrd="0" presId="urn:microsoft.com/office/officeart/2018/2/layout/IconVerticalSolidList"/>
    <dgm:cxn modelId="{BD223E35-3E08-4CE7-BF88-5E400E728047}" type="presParOf" srcId="{2EAADB65-7C47-4C3A-B2B6-0C66F0538049}" destId="{44A27D4D-73D8-48EA-A654-50F5E0A74849}" srcOrd="7" destOrd="0" presId="urn:microsoft.com/office/officeart/2018/2/layout/IconVerticalSolidList"/>
    <dgm:cxn modelId="{4E23CEF7-1C30-4BD0-AE33-4E97CFCA06E6}" type="presParOf" srcId="{2EAADB65-7C47-4C3A-B2B6-0C66F0538049}" destId="{54754BD2-4B3F-4D34-812D-2ED69DBA03D3}" srcOrd="8" destOrd="0" presId="urn:microsoft.com/office/officeart/2018/2/layout/IconVerticalSolidList"/>
    <dgm:cxn modelId="{CE13A118-9765-4A6B-B400-98DFCC774DD5}" type="presParOf" srcId="{54754BD2-4B3F-4D34-812D-2ED69DBA03D3}" destId="{96942B3B-47BE-456D-91B6-401E6CB30FA0}" srcOrd="0" destOrd="0" presId="urn:microsoft.com/office/officeart/2018/2/layout/IconVerticalSolidList"/>
    <dgm:cxn modelId="{A1E8A4BD-1EAE-4477-B136-9565BA3FBCAA}" type="presParOf" srcId="{54754BD2-4B3F-4D34-812D-2ED69DBA03D3}" destId="{736A2D73-6D9F-4873-9BF6-E5F9EC6E7266}" srcOrd="1" destOrd="0" presId="urn:microsoft.com/office/officeart/2018/2/layout/IconVerticalSolidList"/>
    <dgm:cxn modelId="{FA6B79F4-4D15-42E4-8922-8F5DC6A1E55D}" type="presParOf" srcId="{54754BD2-4B3F-4D34-812D-2ED69DBA03D3}" destId="{ACB57A8A-8AEB-4244-877C-829D5935F370}" srcOrd="2" destOrd="0" presId="urn:microsoft.com/office/officeart/2018/2/layout/IconVerticalSolidList"/>
    <dgm:cxn modelId="{B7641C12-0E00-4A8E-B9BE-873BA2A9105F}" type="presParOf" srcId="{54754BD2-4B3F-4D34-812D-2ED69DBA03D3}" destId="{A50A6CFE-339D-4FEE-BC39-1C701D710ACB}" srcOrd="3" destOrd="0" presId="urn:microsoft.com/office/officeart/2018/2/layout/IconVerticalSolidList"/>
    <dgm:cxn modelId="{7F5834F0-5193-4994-8E67-E9D208FA3EFE}" type="presParOf" srcId="{2EAADB65-7C47-4C3A-B2B6-0C66F0538049}" destId="{E408DCBC-3BAC-46E8-9A00-344FC9497E66}" srcOrd="9" destOrd="0" presId="urn:microsoft.com/office/officeart/2018/2/layout/IconVerticalSolidList"/>
    <dgm:cxn modelId="{208085A1-EE5C-428F-8FB9-273327E065D4}" type="presParOf" srcId="{2EAADB65-7C47-4C3A-B2B6-0C66F0538049}" destId="{E82E144F-FEA7-42A3-8FBC-0BB84065148B}" srcOrd="10" destOrd="0" presId="urn:microsoft.com/office/officeart/2018/2/layout/IconVerticalSolidList"/>
    <dgm:cxn modelId="{823F73FE-D844-4C78-8E9F-7A337F571F8C}" type="presParOf" srcId="{E82E144F-FEA7-42A3-8FBC-0BB84065148B}" destId="{3F5DE1D7-9D4D-4154-86CD-D37BB36E2F2C}" srcOrd="0" destOrd="0" presId="urn:microsoft.com/office/officeart/2018/2/layout/IconVerticalSolidList"/>
    <dgm:cxn modelId="{31554CF1-A2F8-4864-9B04-BE56C867CF1A}" type="presParOf" srcId="{E82E144F-FEA7-42A3-8FBC-0BB84065148B}" destId="{B234E4F0-388C-4916-B391-8F0F159D1645}" srcOrd="1" destOrd="0" presId="urn:microsoft.com/office/officeart/2018/2/layout/IconVerticalSolidList"/>
    <dgm:cxn modelId="{6C12C524-0558-4456-952C-AD88ABE8AE7C}" type="presParOf" srcId="{E82E144F-FEA7-42A3-8FBC-0BB84065148B}" destId="{7C32E1CF-B68F-466D-BF39-99E75FC20076}" srcOrd="2" destOrd="0" presId="urn:microsoft.com/office/officeart/2018/2/layout/IconVerticalSolidList"/>
    <dgm:cxn modelId="{61BDEFD9-E6F7-4A0E-82E0-155F7602D9F6}" type="presParOf" srcId="{E82E144F-FEA7-42A3-8FBC-0BB84065148B}" destId="{6CF8DD67-2DAF-40BF-A508-928682962A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9B53991-C618-4FA4-8696-57DC0E4AE3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C7D31D0-A01A-49E2-B3D9-E9BF083F8863}">
      <dgm:prSet/>
      <dgm:spPr/>
      <dgm:t>
        <a:bodyPr/>
        <a:lstStyle/>
        <a:p>
          <a:r>
            <a:rPr lang="en-US"/>
            <a:t>Developed a good-performing, explainable CDSS for obesity-risk prdiction.</a:t>
          </a:r>
        </a:p>
      </dgm:t>
    </dgm:pt>
    <dgm:pt modelId="{D9805B28-29CC-41E7-8247-093C0BD6F5BA}" type="parTrans" cxnId="{8A6C3D73-F28F-444A-9C66-CAA26D7640FD}">
      <dgm:prSet/>
      <dgm:spPr/>
      <dgm:t>
        <a:bodyPr/>
        <a:lstStyle/>
        <a:p>
          <a:endParaRPr lang="en-US"/>
        </a:p>
      </dgm:t>
    </dgm:pt>
    <dgm:pt modelId="{F577B8B2-1E15-46FE-80A5-01CA0D0A8AF5}" type="sibTrans" cxnId="{8A6C3D73-F28F-444A-9C66-CAA26D7640FD}">
      <dgm:prSet/>
      <dgm:spPr/>
      <dgm:t>
        <a:bodyPr/>
        <a:lstStyle/>
        <a:p>
          <a:endParaRPr lang="en-US"/>
        </a:p>
      </dgm:t>
    </dgm:pt>
    <dgm:pt modelId="{7F83DB7C-0021-43DD-A4CE-7DB04E705938}">
      <dgm:prSet/>
      <dgm:spPr/>
      <dgm:t>
        <a:bodyPr/>
        <a:lstStyle/>
        <a:p>
          <a:r>
            <a:rPr lang="en-US"/>
            <a:t>Models achieved accuracy &gt;0.90 and 0.99 AUC across seven risk classes.</a:t>
          </a:r>
        </a:p>
      </dgm:t>
    </dgm:pt>
    <dgm:pt modelId="{98394661-96F1-4B56-9C5F-DE2150C6B861}" type="parTrans" cxnId="{B894257E-B857-49FC-9B33-9D0C6E14C9CC}">
      <dgm:prSet/>
      <dgm:spPr/>
      <dgm:t>
        <a:bodyPr/>
        <a:lstStyle/>
        <a:p>
          <a:endParaRPr lang="en-US"/>
        </a:p>
      </dgm:t>
    </dgm:pt>
    <dgm:pt modelId="{5580C822-173C-47DF-93FA-06E0F2B30D94}" type="sibTrans" cxnId="{B894257E-B857-49FC-9B33-9D0C6E14C9CC}">
      <dgm:prSet/>
      <dgm:spPr/>
      <dgm:t>
        <a:bodyPr/>
        <a:lstStyle/>
        <a:p>
          <a:endParaRPr lang="en-US"/>
        </a:p>
      </dgm:t>
    </dgm:pt>
    <dgm:pt modelId="{570C6912-AF5B-4A62-BF64-5C75465A13C7}">
      <dgm:prSet/>
      <dgm:spPr/>
      <dgm:t>
        <a:bodyPr/>
        <a:lstStyle/>
        <a:p>
          <a:r>
            <a:rPr lang="en-US"/>
            <a:t>SHAP explanations and clinician-in-the-loop design enhanced transparency and reduced automation bias.</a:t>
          </a:r>
        </a:p>
      </dgm:t>
    </dgm:pt>
    <dgm:pt modelId="{76DC73B7-8C10-4773-A2AF-C15EB14C6E5C}" type="parTrans" cxnId="{5FDE1358-87BB-4A49-BD2C-1BC74B6D117B}">
      <dgm:prSet/>
      <dgm:spPr/>
      <dgm:t>
        <a:bodyPr/>
        <a:lstStyle/>
        <a:p>
          <a:endParaRPr lang="en-US"/>
        </a:p>
      </dgm:t>
    </dgm:pt>
    <dgm:pt modelId="{2F72EAD7-C70D-413B-9411-0A1848D1A310}" type="sibTrans" cxnId="{5FDE1358-87BB-4A49-BD2C-1BC74B6D117B}">
      <dgm:prSet/>
      <dgm:spPr/>
      <dgm:t>
        <a:bodyPr/>
        <a:lstStyle/>
        <a:p>
          <a:endParaRPr lang="en-US"/>
        </a:p>
      </dgm:t>
    </dgm:pt>
    <dgm:pt modelId="{C96ECEDB-1895-46E0-BCD2-40C490C04827}">
      <dgm:prSet/>
      <dgm:spPr/>
      <dgm:t>
        <a:bodyPr/>
        <a:lstStyle/>
        <a:p>
          <a:r>
            <a:rPr lang="en-US"/>
            <a:t>Potential impact on targeted population:</a:t>
          </a:r>
        </a:p>
      </dgm:t>
    </dgm:pt>
    <dgm:pt modelId="{FAACCABF-F787-4622-A17D-559F5A778E1C}" type="parTrans" cxnId="{6B78AC66-B9B7-4820-95F8-49B088C46E29}">
      <dgm:prSet/>
      <dgm:spPr/>
      <dgm:t>
        <a:bodyPr/>
        <a:lstStyle/>
        <a:p>
          <a:endParaRPr lang="en-US"/>
        </a:p>
      </dgm:t>
    </dgm:pt>
    <dgm:pt modelId="{12B06C97-5790-4B2A-A8EA-BA259E060E18}" type="sibTrans" cxnId="{6B78AC66-B9B7-4820-95F8-49B088C46E29}">
      <dgm:prSet/>
      <dgm:spPr/>
      <dgm:t>
        <a:bodyPr/>
        <a:lstStyle/>
        <a:p>
          <a:endParaRPr lang="en-US"/>
        </a:p>
      </dgm:t>
    </dgm:pt>
    <dgm:pt modelId="{93CACBD5-9EF8-4338-8D6C-C78549B8A7DA}">
      <dgm:prSet/>
      <dgm:spPr/>
      <dgm:t>
        <a:bodyPr/>
        <a:lstStyle/>
        <a:p>
          <a:r>
            <a:rPr lang="en-US"/>
            <a:t>Earlier identification of high-risk patients.</a:t>
          </a:r>
        </a:p>
      </dgm:t>
    </dgm:pt>
    <dgm:pt modelId="{32CAFA22-E3D9-4EFE-9D77-52529F6B5940}" type="parTrans" cxnId="{ACD14D27-9B87-47F2-B51C-769C83BB1445}">
      <dgm:prSet/>
      <dgm:spPr/>
      <dgm:t>
        <a:bodyPr/>
        <a:lstStyle/>
        <a:p>
          <a:endParaRPr lang="en-US"/>
        </a:p>
      </dgm:t>
    </dgm:pt>
    <dgm:pt modelId="{864C5099-9E16-435C-88D5-9A8663E37C7A}" type="sibTrans" cxnId="{ACD14D27-9B87-47F2-B51C-769C83BB1445}">
      <dgm:prSet/>
      <dgm:spPr/>
      <dgm:t>
        <a:bodyPr/>
        <a:lstStyle/>
        <a:p>
          <a:endParaRPr lang="en-US"/>
        </a:p>
      </dgm:t>
    </dgm:pt>
    <dgm:pt modelId="{00D3F021-0AF3-40FC-A8E2-05928B93AA9A}">
      <dgm:prSet/>
      <dgm:spPr/>
      <dgm:t>
        <a:bodyPr/>
        <a:lstStyle/>
        <a:p>
          <a:r>
            <a:rPr lang="en-US"/>
            <a:t>More personalized counseling and resource allocation.</a:t>
          </a:r>
        </a:p>
      </dgm:t>
    </dgm:pt>
    <dgm:pt modelId="{0C8EB4A4-F684-4AD3-AC0C-E74554012FB2}" type="parTrans" cxnId="{9FDE5F75-2869-482D-95C7-A7AB587AFCEC}">
      <dgm:prSet/>
      <dgm:spPr/>
      <dgm:t>
        <a:bodyPr/>
        <a:lstStyle/>
        <a:p>
          <a:endParaRPr lang="en-US"/>
        </a:p>
      </dgm:t>
    </dgm:pt>
    <dgm:pt modelId="{326888DF-04A0-4456-B190-B97822FCA9A1}" type="sibTrans" cxnId="{9FDE5F75-2869-482D-95C7-A7AB587AFCEC}">
      <dgm:prSet/>
      <dgm:spPr/>
      <dgm:t>
        <a:bodyPr/>
        <a:lstStyle/>
        <a:p>
          <a:endParaRPr lang="en-US"/>
        </a:p>
      </dgm:t>
    </dgm:pt>
    <dgm:pt modelId="{56A659AF-33C4-4CF9-A069-4B92F04B626B}">
      <dgm:prSet/>
      <dgm:spPr/>
      <dgm:t>
        <a:bodyPr/>
        <a:lstStyle/>
        <a:p>
          <a:r>
            <a:rPr lang="en-US"/>
            <a:t>Support for population-level prevention strategies.</a:t>
          </a:r>
        </a:p>
      </dgm:t>
    </dgm:pt>
    <dgm:pt modelId="{B96648CA-D176-4703-8ECC-CF27058999E1}" type="parTrans" cxnId="{DBE57EE0-6578-483C-B600-7876E67B8B31}">
      <dgm:prSet/>
      <dgm:spPr/>
      <dgm:t>
        <a:bodyPr/>
        <a:lstStyle/>
        <a:p>
          <a:endParaRPr lang="en-US"/>
        </a:p>
      </dgm:t>
    </dgm:pt>
    <dgm:pt modelId="{96B75537-3FF6-4E18-9F77-F51DDDDA12A4}" type="sibTrans" cxnId="{DBE57EE0-6578-483C-B600-7876E67B8B31}">
      <dgm:prSet/>
      <dgm:spPr/>
      <dgm:t>
        <a:bodyPr/>
        <a:lstStyle/>
        <a:p>
          <a:endParaRPr lang="en-US"/>
        </a:p>
      </dgm:t>
    </dgm:pt>
    <dgm:pt modelId="{44BF3E75-18E4-4168-96E9-95BD102554BA}" type="pres">
      <dgm:prSet presAssocID="{A9B53991-C618-4FA4-8696-57DC0E4AE396}" presName="linear" presStyleCnt="0">
        <dgm:presLayoutVars>
          <dgm:animLvl val="lvl"/>
          <dgm:resizeHandles val="exact"/>
        </dgm:presLayoutVars>
      </dgm:prSet>
      <dgm:spPr/>
    </dgm:pt>
    <dgm:pt modelId="{55DD3F9E-A016-40C8-8DEB-C76FB7D9052C}" type="pres">
      <dgm:prSet presAssocID="{3C7D31D0-A01A-49E2-B3D9-E9BF083F886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CB938A6-7C71-4E77-A18E-178995B0C947}" type="pres">
      <dgm:prSet presAssocID="{F577B8B2-1E15-46FE-80A5-01CA0D0A8AF5}" presName="spacer" presStyleCnt="0"/>
      <dgm:spPr/>
    </dgm:pt>
    <dgm:pt modelId="{D0A66C0F-C4CD-4B83-90FE-4C0EA8D6D7D8}" type="pres">
      <dgm:prSet presAssocID="{7F83DB7C-0021-43DD-A4CE-7DB04E70593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D1D6644-A260-4602-8002-ECA546FFA0AD}" type="pres">
      <dgm:prSet presAssocID="{5580C822-173C-47DF-93FA-06E0F2B30D94}" presName="spacer" presStyleCnt="0"/>
      <dgm:spPr/>
    </dgm:pt>
    <dgm:pt modelId="{D7526662-5A3F-46A9-990B-1C1BA2C670E8}" type="pres">
      <dgm:prSet presAssocID="{570C6912-AF5B-4A62-BF64-5C75465A13C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8DF9E9B-408B-44A5-8902-EF41BDA1DDAB}" type="pres">
      <dgm:prSet presAssocID="{2F72EAD7-C70D-413B-9411-0A1848D1A310}" presName="spacer" presStyleCnt="0"/>
      <dgm:spPr/>
    </dgm:pt>
    <dgm:pt modelId="{08E49EAD-25E2-49FC-BDD5-57412CD8FA5B}" type="pres">
      <dgm:prSet presAssocID="{C96ECEDB-1895-46E0-BCD2-40C490C0482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6DE2F49-4CC6-4FA3-B5D4-F4BA5294BD14}" type="pres">
      <dgm:prSet presAssocID="{C96ECEDB-1895-46E0-BCD2-40C490C04827}" presName="childText" presStyleLbl="revTx" presStyleIdx="0" presStyleCnt="1">
        <dgm:presLayoutVars>
          <dgm:bulletEnabled val="1"/>
        </dgm:presLayoutVars>
      </dgm:prSet>
      <dgm:spPr/>
    </dgm:pt>
    <dgm:pt modelId="{B66D2A4F-BEDE-4B3B-A810-7CAEBBC7DFE5}" type="pres">
      <dgm:prSet presAssocID="{56A659AF-33C4-4CF9-A069-4B92F04B626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C070903-E581-4477-A70C-B01B5D1EA086}" type="presOf" srcId="{7F83DB7C-0021-43DD-A4CE-7DB04E705938}" destId="{D0A66C0F-C4CD-4B83-90FE-4C0EA8D6D7D8}" srcOrd="0" destOrd="0" presId="urn:microsoft.com/office/officeart/2005/8/layout/vList2"/>
    <dgm:cxn modelId="{7C584311-2B5C-4900-8506-FF7110A99DDC}" type="presOf" srcId="{570C6912-AF5B-4A62-BF64-5C75465A13C7}" destId="{D7526662-5A3F-46A9-990B-1C1BA2C670E8}" srcOrd="0" destOrd="0" presId="urn:microsoft.com/office/officeart/2005/8/layout/vList2"/>
    <dgm:cxn modelId="{3CC0D517-7F76-4A00-A509-79E896E6ABC5}" type="presOf" srcId="{56A659AF-33C4-4CF9-A069-4B92F04B626B}" destId="{B66D2A4F-BEDE-4B3B-A810-7CAEBBC7DFE5}" srcOrd="0" destOrd="0" presId="urn:microsoft.com/office/officeart/2005/8/layout/vList2"/>
    <dgm:cxn modelId="{ACD14D27-9B87-47F2-B51C-769C83BB1445}" srcId="{C96ECEDB-1895-46E0-BCD2-40C490C04827}" destId="{93CACBD5-9EF8-4338-8D6C-C78549B8A7DA}" srcOrd="0" destOrd="0" parTransId="{32CAFA22-E3D9-4EFE-9D77-52529F6B5940}" sibTransId="{864C5099-9E16-435C-88D5-9A8663E37C7A}"/>
    <dgm:cxn modelId="{B9A4CF34-6564-401B-B17D-039FA1CB0285}" type="presOf" srcId="{93CACBD5-9EF8-4338-8D6C-C78549B8A7DA}" destId="{D6DE2F49-4CC6-4FA3-B5D4-F4BA5294BD14}" srcOrd="0" destOrd="0" presId="urn:microsoft.com/office/officeart/2005/8/layout/vList2"/>
    <dgm:cxn modelId="{D623535E-28F1-4464-A885-79391EEB06B2}" type="presOf" srcId="{00D3F021-0AF3-40FC-A8E2-05928B93AA9A}" destId="{D6DE2F49-4CC6-4FA3-B5D4-F4BA5294BD14}" srcOrd="0" destOrd="1" presId="urn:microsoft.com/office/officeart/2005/8/layout/vList2"/>
    <dgm:cxn modelId="{6B78AC66-B9B7-4820-95F8-49B088C46E29}" srcId="{A9B53991-C618-4FA4-8696-57DC0E4AE396}" destId="{C96ECEDB-1895-46E0-BCD2-40C490C04827}" srcOrd="3" destOrd="0" parTransId="{FAACCABF-F787-4622-A17D-559F5A778E1C}" sibTransId="{12B06C97-5790-4B2A-A8EA-BA259E060E18}"/>
    <dgm:cxn modelId="{8A6C3D73-F28F-444A-9C66-CAA26D7640FD}" srcId="{A9B53991-C618-4FA4-8696-57DC0E4AE396}" destId="{3C7D31D0-A01A-49E2-B3D9-E9BF083F8863}" srcOrd="0" destOrd="0" parTransId="{D9805B28-29CC-41E7-8247-093C0BD6F5BA}" sibTransId="{F577B8B2-1E15-46FE-80A5-01CA0D0A8AF5}"/>
    <dgm:cxn modelId="{9FDE5F75-2869-482D-95C7-A7AB587AFCEC}" srcId="{C96ECEDB-1895-46E0-BCD2-40C490C04827}" destId="{00D3F021-0AF3-40FC-A8E2-05928B93AA9A}" srcOrd="1" destOrd="0" parTransId="{0C8EB4A4-F684-4AD3-AC0C-E74554012FB2}" sibTransId="{326888DF-04A0-4456-B190-B97822FCA9A1}"/>
    <dgm:cxn modelId="{5FDE1358-87BB-4A49-BD2C-1BC74B6D117B}" srcId="{A9B53991-C618-4FA4-8696-57DC0E4AE396}" destId="{570C6912-AF5B-4A62-BF64-5C75465A13C7}" srcOrd="2" destOrd="0" parTransId="{76DC73B7-8C10-4773-A2AF-C15EB14C6E5C}" sibTransId="{2F72EAD7-C70D-413B-9411-0A1848D1A310}"/>
    <dgm:cxn modelId="{B894257E-B857-49FC-9B33-9D0C6E14C9CC}" srcId="{A9B53991-C618-4FA4-8696-57DC0E4AE396}" destId="{7F83DB7C-0021-43DD-A4CE-7DB04E705938}" srcOrd="1" destOrd="0" parTransId="{98394661-96F1-4B56-9C5F-DE2150C6B861}" sibTransId="{5580C822-173C-47DF-93FA-06E0F2B30D94}"/>
    <dgm:cxn modelId="{992D2598-37FA-4CBF-ADD5-245510C8A7C5}" type="presOf" srcId="{C96ECEDB-1895-46E0-BCD2-40C490C04827}" destId="{08E49EAD-25E2-49FC-BDD5-57412CD8FA5B}" srcOrd="0" destOrd="0" presId="urn:microsoft.com/office/officeart/2005/8/layout/vList2"/>
    <dgm:cxn modelId="{5C8D14AB-E6E0-46F9-BBB9-4EEDE3A2B41C}" type="presOf" srcId="{A9B53991-C618-4FA4-8696-57DC0E4AE396}" destId="{44BF3E75-18E4-4168-96E9-95BD102554BA}" srcOrd="0" destOrd="0" presId="urn:microsoft.com/office/officeart/2005/8/layout/vList2"/>
    <dgm:cxn modelId="{DBE57EE0-6578-483C-B600-7876E67B8B31}" srcId="{A9B53991-C618-4FA4-8696-57DC0E4AE396}" destId="{56A659AF-33C4-4CF9-A069-4B92F04B626B}" srcOrd="4" destOrd="0" parTransId="{B96648CA-D176-4703-8ECC-CF27058999E1}" sibTransId="{96B75537-3FF6-4E18-9F77-F51DDDDA12A4}"/>
    <dgm:cxn modelId="{18BB8CEF-9CD5-443B-A4F4-644F79E03E85}" type="presOf" srcId="{3C7D31D0-A01A-49E2-B3D9-E9BF083F8863}" destId="{55DD3F9E-A016-40C8-8DEB-C76FB7D9052C}" srcOrd="0" destOrd="0" presId="urn:microsoft.com/office/officeart/2005/8/layout/vList2"/>
    <dgm:cxn modelId="{9E2DF53C-2C2A-480D-B449-46FC0A7E445F}" type="presParOf" srcId="{44BF3E75-18E4-4168-96E9-95BD102554BA}" destId="{55DD3F9E-A016-40C8-8DEB-C76FB7D9052C}" srcOrd="0" destOrd="0" presId="urn:microsoft.com/office/officeart/2005/8/layout/vList2"/>
    <dgm:cxn modelId="{ED4880C5-22AF-483C-8BFA-8B6E6BD35AEE}" type="presParOf" srcId="{44BF3E75-18E4-4168-96E9-95BD102554BA}" destId="{1CB938A6-7C71-4E77-A18E-178995B0C947}" srcOrd="1" destOrd="0" presId="urn:microsoft.com/office/officeart/2005/8/layout/vList2"/>
    <dgm:cxn modelId="{A402BD94-F631-4BD0-B909-826901F04324}" type="presParOf" srcId="{44BF3E75-18E4-4168-96E9-95BD102554BA}" destId="{D0A66C0F-C4CD-4B83-90FE-4C0EA8D6D7D8}" srcOrd="2" destOrd="0" presId="urn:microsoft.com/office/officeart/2005/8/layout/vList2"/>
    <dgm:cxn modelId="{A8E9AB09-DF01-4E86-8D58-FF39546BB856}" type="presParOf" srcId="{44BF3E75-18E4-4168-96E9-95BD102554BA}" destId="{CD1D6644-A260-4602-8002-ECA546FFA0AD}" srcOrd="3" destOrd="0" presId="urn:microsoft.com/office/officeart/2005/8/layout/vList2"/>
    <dgm:cxn modelId="{D4AE665A-6A1E-4C72-B922-55E04CCA083A}" type="presParOf" srcId="{44BF3E75-18E4-4168-96E9-95BD102554BA}" destId="{D7526662-5A3F-46A9-990B-1C1BA2C670E8}" srcOrd="4" destOrd="0" presId="urn:microsoft.com/office/officeart/2005/8/layout/vList2"/>
    <dgm:cxn modelId="{A98AEB0D-42DC-4A84-9E06-81563E279953}" type="presParOf" srcId="{44BF3E75-18E4-4168-96E9-95BD102554BA}" destId="{38DF9E9B-408B-44A5-8902-EF41BDA1DDAB}" srcOrd="5" destOrd="0" presId="urn:microsoft.com/office/officeart/2005/8/layout/vList2"/>
    <dgm:cxn modelId="{B95E71A0-8CB4-4E83-A7BE-A147E1915436}" type="presParOf" srcId="{44BF3E75-18E4-4168-96E9-95BD102554BA}" destId="{08E49EAD-25E2-49FC-BDD5-57412CD8FA5B}" srcOrd="6" destOrd="0" presId="urn:microsoft.com/office/officeart/2005/8/layout/vList2"/>
    <dgm:cxn modelId="{EF26A32B-2086-4445-B9E7-DA6808D3344B}" type="presParOf" srcId="{44BF3E75-18E4-4168-96E9-95BD102554BA}" destId="{D6DE2F49-4CC6-4FA3-B5D4-F4BA5294BD14}" srcOrd="7" destOrd="0" presId="urn:microsoft.com/office/officeart/2005/8/layout/vList2"/>
    <dgm:cxn modelId="{BB8CEA57-8B10-4E85-892A-D9C2EEEB0DA3}" type="presParOf" srcId="{44BF3E75-18E4-4168-96E9-95BD102554BA}" destId="{B66D2A4F-BEDE-4B3B-A810-7CAEBBC7DFE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BD42F8-4FE7-4377-A116-F97A38B09A7A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C97FE-DA93-4387-970A-630EB27DACFB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658F56-7587-4B43-9671-C4FDC89D78EB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CDSS can integrate multiple risk factors and provide consistent, evidence-based recommendations [2].</a:t>
          </a:r>
        </a:p>
      </dsp:txBody>
      <dsp:txXfrm>
        <a:off x="1057183" y="1805"/>
        <a:ext cx="9458416" cy="915310"/>
      </dsp:txXfrm>
    </dsp:sp>
    <dsp:sp modelId="{B5971356-2FEB-478B-8779-CAC575B1EE26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D7AD3D-F10B-4B7C-B10D-C4799734CF30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9D944-E3FB-418A-A77B-9203211AA10F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AI-driven CDSSs can augment human judgement in diagnosis, risk prediction and treatment planning [2,8].</a:t>
          </a:r>
        </a:p>
      </dsp:txBody>
      <dsp:txXfrm>
        <a:off x="1057183" y="1145944"/>
        <a:ext cx="9458416" cy="915310"/>
      </dsp:txXfrm>
    </dsp:sp>
    <dsp:sp modelId="{71B092AD-259E-43E5-82D2-911A26A69665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CC464F-4590-457E-AE76-0C4C090F21F8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0FEFF-F892-4BB5-8D51-1A4E5E740A9D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Recent work shows strong performance of ML for obesity risk prediction and monitoring [3,7].</a:t>
          </a:r>
        </a:p>
      </dsp:txBody>
      <dsp:txXfrm>
        <a:off x="1057183" y="2290082"/>
        <a:ext cx="9458416" cy="915310"/>
      </dsp:txXfrm>
    </dsp:sp>
    <dsp:sp modelId="{AC3F8633-8368-4334-BE38-BEEC22A6AC08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96679-54FE-44E8-8FE5-ED0E9125E323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60F48E-26C8-4CF7-BF4D-244D41CCD960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However, many models are “black boxes”, limiting clinician trust and adoption [4,5,7].</a:t>
          </a:r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A1834-CA83-4A5A-81D5-F05C93BCEDB6}">
      <dsp:nvSpPr>
        <dsp:cNvPr id="0" name=""/>
        <dsp:cNvSpPr/>
      </dsp:nvSpPr>
      <dsp:spPr>
        <a:xfrm>
          <a:off x="0" y="2408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T</a:t>
          </a:r>
          <a:r>
            <a:rPr lang="en-US" sz="4000" b="1" kern="1200"/>
            <a:t>arget population</a:t>
          </a:r>
          <a:r>
            <a:rPr lang="en-US" sz="4000" kern="1200"/>
            <a:t>: </a:t>
          </a:r>
        </a:p>
      </dsp:txBody>
      <dsp:txXfrm>
        <a:off x="47976" y="72065"/>
        <a:ext cx="10419648" cy="886848"/>
      </dsp:txXfrm>
    </dsp:sp>
    <dsp:sp modelId="{540C418B-0E47-42CE-919B-0D38039D449E}">
      <dsp:nvSpPr>
        <dsp:cNvPr id="0" name=""/>
        <dsp:cNvSpPr/>
      </dsp:nvSpPr>
      <dsp:spPr>
        <a:xfrm>
          <a:off x="0" y="1006889"/>
          <a:ext cx="10515600" cy="662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Adults at high risk of obesity-related complications.</a:t>
          </a:r>
        </a:p>
      </dsp:txBody>
      <dsp:txXfrm>
        <a:off x="0" y="1006889"/>
        <a:ext cx="10515600" cy="662400"/>
      </dsp:txXfrm>
    </dsp:sp>
    <dsp:sp modelId="{DD0406AF-E7CA-4D09-97E8-2980885CC5FB}">
      <dsp:nvSpPr>
        <dsp:cNvPr id="0" name=""/>
        <dsp:cNvSpPr/>
      </dsp:nvSpPr>
      <dsp:spPr>
        <a:xfrm>
          <a:off x="0" y="166928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/>
            <a:t>Justification:</a:t>
          </a:r>
          <a:endParaRPr lang="en-US" sz="4000" kern="1200"/>
        </a:p>
      </dsp:txBody>
      <dsp:txXfrm>
        <a:off x="47976" y="1717265"/>
        <a:ext cx="10419648" cy="886848"/>
      </dsp:txXfrm>
    </dsp:sp>
    <dsp:sp modelId="{4DF33DA4-110F-4C38-A5DF-8984817F4107}">
      <dsp:nvSpPr>
        <dsp:cNvPr id="0" name=""/>
        <dsp:cNvSpPr/>
      </dsp:nvSpPr>
      <dsp:spPr>
        <a:xfrm>
          <a:off x="0" y="2652089"/>
          <a:ext cx="10515600" cy="2028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High disease burden and modifiable risk factors.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Opportunity for early intervention during routine visits.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Supports over-loaded clinicians by highlighting patients needing closer follow-up.</a:t>
          </a:r>
        </a:p>
      </dsp:txBody>
      <dsp:txXfrm>
        <a:off x="0" y="2652089"/>
        <a:ext cx="10515600" cy="20286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B12ED-E0A8-4C09-AF35-3BFE03ADE023}">
      <dsp:nvSpPr>
        <dsp:cNvPr id="0" name=""/>
        <dsp:cNvSpPr/>
      </dsp:nvSpPr>
      <dsp:spPr>
        <a:xfrm>
          <a:off x="0" y="198941"/>
          <a:ext cx="10515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Machine-learning models have shown strong performance in predicting obesity risk and related outcomes.</a:t>
          </a:r>
        </a:p>
      </dsp:txBody>
      <dsp:txXfrm>
        <a:off x="50489" y="249430"/>
        <a:ext cx="10414622" cy="933302"/>
      </dsp:txXfrm>
    </dsp:sp>
    <dsp:sp modelId="{326E0040-9683-49D0-AC7A-2CE4CEB5D65D}">
      <dsp:nvSpPr>
        <dsp:cNvPr id="0" name=""/>
        <dsp:cNvSpPr/>
      </dsp:nvSpPr>
      <dsp:spPr>
        <a:xfrm>
          <a:off x="0" y="1308101"/>
          <a:ext cx="10515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Helforoush &amp; Sayyad (2024) used a hybrid metaheuristic ML approach, improving precision of obesity risk prediction [3].</a:t>
          </a:r>
        </a:p>
      </dsp:txBody>
      <dsp:txXfrm>
        <a:off x="50489" y="1358590"/>
        <a:ext cx="10414622" cy="933302"/>
      </dsp:txXfrm>
    </dsp:sp>
    <dsp:sp modelId="{6871F024-B142-4ED5-A0BA-CFF7D7BCE187}">
      <dsp:nvSpPr>
        <dsp:cNvPr id="0" name=""/>
        <dsp:cNvSpPr/>
      </dsp:nvSpPr>
      <dsp:spPr>
        <a:xfrm>
          <a:off x="0" y="2417261"/>
          <a:ext cx="10515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Shen et al. (2024) developed a visualization-based obesity prediction system, emphasizing interpretability for clinicians [4].</a:t>
          </a:r>
        </a:p>
      </dsp:txBody>
      <dsp:txXfrm>
        <a:off x="50489" y="2467750"/>
        <a:ext cx="10414622" cy="933302"/>
      </dsp:txXfrm>
    </dsp:sp>
    <dsp:sp modelId="{506CAAB2-AA9F-4703-B502-ACC3E2E7B66A}">
      <dsp:nvSpPr>
        <dsp:cNvPr id="0" name=""/>
        <dsp:cNvSpPr/>
      </dsp:nvSpPr>
      <dsp:spPr>
        <a:xfrm>
          <a:off x="0" y="3526421"/>
          <a:ext cx="10515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Nguyen et al. (2023) systematic review: AI methods consistently outperform traditional statistical models in obesity prediction tasks [7].</a:t>
          </a:r>
        </a:p>
      </dsp:txBody>
      <dsp:txXfrm>
        <a:off x="50489" y="3576910"/>
        <a:ext cx="10414622" cy="9333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9D75A2-1457-429B-8033-30EC0393EAE0}">
      <dsp:nvSpPr>
        <dsp:cNvPr id="0" name=""/>
        <dsp:cNvSpPr/>
      </dsp:nvSpPr>
      <dsp:spPr>
        <a:xfrm>
          <a:off x="0" y="484169"/>
          <a:ext cx="10515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Shortliffe &amp; Sepúlveda (2018) highlight how CDSS, when combined with AI, can enhance but not replace clinician judgment [2].</a:t>
          </a:r>
        </a:p>
      </dsp:txBody>
      <dsp:txXfrm>
        <a:off x="42722" y="526891"/>
        <a:ext cx="10430156" cy="789716"/>
      </dsp:txXfrm>
    </dsp:sp>
    <dsp:sp modelId="{B6CD4F56-9B6F-4CC9-A935-2CC26412F9BB}">
      <dsp:nvSpPr>
        <dsp:cNvPr id="0" name=""/>
        <dsp:cNvSpPr/>
      </dsp:nvSpPr>
      <dsp:spPr>
        <a:xfrm>
          <a:off x="0" y="1422689"/>
          <a:ext cx="10515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Esteva et al. (2019) showed deep learning’s potential in healthcare but stress transparency and clinical validation [8].</a:t>
          </a:r>
        </a:p>
      </dsp:txBody>
      <dsp:txXfrm>
        <a:off x="42722" y="1465411"/>
        <a:ext cx="10430156" cy="789716"/>
      </dsp:txXfrm>
    </dsp:sp>
    <dsp:sp modelId="{B2F72D55-D6EE-4BE2-BCC4-9707A1888CD3}">
      <dsp:nvSpPr>
        <dsp:cNvPr id="0" name=""/>
        <dsp:cNvSpPr/>
      </dsp:nvSpPr>
      <dsp:spPr>
        <a:xfrm>
          <a:off x="0" y="2361209"/>
          <a:ext cx="10515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Lee et al. (2025) used ensemble ML models on survey data to predict obesity in T2DM patients, achieving high performance and demonstrating real-world utility [5].</a:t>
          </a:r>
        </a:p>
      </dsp:txBody>
      <dsp:txXfrm>
        <a:off x="42722" y="2403931"/>
        <a:ext cx="10430156" cy="789716"/>
      </dsp:txXfrm>
    </dsp:sp>
    <dsp:sp modelId="{3D141E37-941C-42B0-BAB0-70DEF77FD5FF}">
      <dsp:nvSpPr>
        <dsp:cNvPr id="0" name=""/>
        <dsp:cNvSpPr/>
      </dsp:nvSpPr>
      <dsp:spPr>
        <a:xfrm>
          <a:off x="0" y="3299729"/>
          <a:ext cx="10515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Gap:</a:t>
          </a:r>
          <a:r>
            <a:rPr lang="en-US" sz="2200" kern="1200"/>
            <a:t> Many AI models are not packaged into usable CDSS tools with clinician-in-the-loop workflows.</a:t>
          </a:r>
        </a:p>
      </dsp:txBody>
      <dsp:txXfrm>
        <a:off x="42722" y="3342451"/>
        <a:ext cx="10430156" cy="7897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DBF52C-D591-4DC9-8043-E468504F879B}">
      <dsp:nvSpPr>
        <dsp:cNvPr id="0" name=""/>
        <dsp:cNvSpPr/>
      </dsp:nvSpPr>
      <dsp:spPr>
        <a:xfrm>
          <a:off x="783334" y="2398"/>
          <a:ext cx="8839186" cy="11537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AutoGluon explored multiple algorithms:</a:t>
          </a:r>
        </a:p>
      </dsp:txBody>
      <dsp:txXfrm>
        <a:off x="839656" y="58720"/>
        <a:ext cx="8726542" cy="1041112"/>
      </dsp:txXfrm>
    </dsp:sp>
    <dsp:sp modelId="{C5445564-0720-40D3-9153-D1695966796B}">
      <dsp:nvSpPr>
        <dsp:cNvPr id="0" name=""/>
        <dsp:cNvSpPr/>
      </dsp:nvSpPr>
      <dsp:spPr>
        <a:xfrm>
          <a:off x="783334" y="1213843"/>
          <a:ext cx="8784332" cy="11537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Derivatives of Random Forest, </a:t>
          </a:r>
          <a:r>
            <a:rPr lang="en-US" sz="3000" kern="1200" dirty="0" err="1"/>
            <a:t>XGBoost</a:t>
          </a:r>
          <a:r>
            <a:rPr lang="en-US" sz="3000" kern="1200" dirty="0"/>
            <a:t>, </a:t>
          </a:r>
          <a:r>
            <a:rPr lang="en-US" sz="3000" kern="1200" dirty="0" err="1"/>
            <a:t>CatBoost</a:t>
          </a:r>
          <a:r>
            <a:rPr lang="en-US" sz="3000" kern="1200" dirty="0"/>
            <a:t>, </a:t>
          </a:r>
          <a:r>
            <a:rPr lang="en-US" sz="3000" kern="1200" dirty="0" err="1"/>
            <a:t>LightGBM</a:t>
          </a:r>
          <a:r>
            <a:rPr lang="en-US" sz="3000" kern="1200" dirty="0"/>
            <a:t>, neural networks, etc.</a:t>
          </a:r>
        </a:p>
      </dsp:txBody>
      <dsp:txXfrm>
        <a:off x="839656" y="1270165"/>
        <a:ext cx="8671688" cy="1041112"/>
      </dsp:txXfrm>
    </dsp:sp>
    <dsp:sp modelId="{689BAFDE-112D-446C-A4C8-FA4A413E7CE5}">
      <dsp:nvSpPr>
        <dsp:cNvPr id="0" name=""/>
        <dsp:cNvSpPr/>
      </dsp:nvSpPr>
      <dsp:spPr>
        <a:xfrm>
          <a:off x="742979" y="2416139"/>
          <a:ext cx="8682613" cy="11537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Metric prioritized</a:t>
          </a:r>
          <a:r>
            <a:rPr lang="en-US" sz="2900" kern="1200" dirty="0"/>
            <a:t>: Balanced accuracy to handle class imbalance in training.</a:t>
          </a:r>
        </a:p>
      </dsp:txBody>
      <dsp:txXfrm>
        <a:off x="799301" y="2472461"/>
        <a:ext cx="8569969" cy="1041112"/>
      </dsp:txXfrm>
    </dsp:sp>
    <dsp:sp modelId="{3496739A-62EB-4929-82C8-2A675F5F7460}">
      <dsp:nvSpPr>
        <dsp:cNvPr id="0" name=""/>
        <dsp:cNvSpPr/>
      </dsp:nvSpPr>
      <dsp:spPr>
        <a:xfrm>
          <a:off x="783334" y="3636733"/>
          <a:ext cx="8948931" cy="11537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Best model: AutoGluon using top-performing base learners.</a:t>
          </a:r>
        </a:p>
      </dsp:txBody>
      <dsp:txXfrm>
        <a:off x="839656" y="3693055"/>
        <a:ext cx="8836287" cy="10411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8A989D-F9B0-4B45-8F5D-CB1314BC4116}">
      <dsp:nvSpPr>
        <dsp:cNvPr id="0" name=""/>
        <dsp:cNvSpPr/>
      </dsp:nvSpPr>
      <dsp:spPr>
        <a:xfrm>
          <a:off x="0" y="1907"/>
          <a:ext cx="8741664" cy="8129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DEDEFE-BAAD-413F-83D5-5D14293B2F5B}">
      <dsp:nvSpPr>
        <dsp:cNvPr id="0" name=""/>
        <dsp:cNvSpPr/>
      </dsp:nvSpPr>
      <dsp:spPr>
        <a:xfrm>
          <a:off x="245924" y="184827"/>
          <a:ext cx="447135" cy="4471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F1636-39D9-495B-A5FD-DBBA114ABB3B}">
      <dsp:nvSpPr>
        <dsp:cNvPr id="0" name=""/>
        <dsp:cNvSpPr/>
      </dsp:nvSpPr>
      <dsp:spPr>
        <a:xfrm>
          <a:off x="938985" y="1907"/>
          <a:ext cx="7802678" cy="812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40" tIns="86040" rIns="86040" bIns="8604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Limitations with Autogluon model.</a:t>
          </a:r>
        </a:p>
      </dsp:txBody>
      <dsp:txXfrm>
        <a:off x="938985" y="1907"/>
        <a:ext cx="7802678" cy="812974"/>
      </dsp:txXfrm>
    </dsp:sp>
    <dsp:sp modelId="{5B223CD8-6D81-4C1F-82E8-F45ED8AE647B}">
      <dsp:nvSpPr>
        <dsp:cNvPr id="0" name=""/>
        <dsp:cNvSpPr/>
      </dsp:nvSpPr>
      <dsp:spPr>
        <a:xfrm>
          <a:off x="0" y="1018125"/>
          <a:ext cx="8741664" cy="8129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F7C81F-F827-4661-BAD2-57DFB33DE71D}">
      <dsp:nvSpPr>
        <dsp:cNvPr id="0" name=""/>
        <dsp:cNvSpPr/>
      </dsp:nvSpPr>
      <dsp:spPr>
        <a:xfrm>
          <a:off x="245924" y="1201045"/>
          <a:ext cx="447135" cy="4471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B01B9-C511-4C38-A952-6BE132D0E0A2}">
      <dsp:nvSpPr>
        <dsp:cNvPr id="0" name=""/>
        <dsp:cNvSpPr/>
      </dsp:nvSpPr>
      <dsp:spPr>
        <a:xfrm>
          <a:off x="938985" y="1018125"/>
          <a:ext cx="7802678" cy="812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40" tIns="86040" rIns="86040" bIns="8604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Streamlit app development was a challenge.</a:t>
          </a:r>
        </a:p>
      </dsp:txBody>
      <dsp:txXfrm>
        <a:off x="938985" y="1018125"/>
        <a:ext cx="7802678" cy="812974"/>
      </dsp:txXfrm>
    </dsp:sp>
    <dsp:sp modelId="{A81EB569-901A-4726-A77B-7058AA651A3C}">
      <dsp:nvSpPr>
        <dsp:cNvPr id="0" name=""/>
        <dsp:cNvSpPr/>
      </dsp:nvSpPr>
      <dsp:spPr>
        <a:xfrm>
          <a:off x="0" y="2034343"/>
          <a:ext cx="8741664" cy="8129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D2B800-67AA-468F-82CF-D25139EDB5CA}">
      <dsp:nvSpPr>
        <dsp:cNvPr id="0" name=""/>
        <dsp:cNvSpPr/>
      </dsp:nvSpPr>
      <dsp:spPr>
        <a:xfrm>
          <a:off x="245924" y="2217263"/>
          <a:ext cx="447135" cy="4471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2450-B403-4860-B736-0FFFA8BC2C11}">
      <dsp:nvSpPr>
        <dsp:cNvPr id="0" name=""/>
        <dsp:cNvSpPr/>
      </dsp:nvSpPr>
      <dsp:spPr>
        <a:xfrm>
          <a:off x="938985" y="2034343"/>
          <a:ext cx="7802678" cy="812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40" tIns="86040" rIns="86040" bIns="8604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7 multiclass task posed challenges with computing class performances and outputting results. </a:t>
          </a:r>
        </a:p>
      </dsp:txBody>
      <dsp:txXfrm>
        <a:off x="938985" y="2034343"/>
        <a:ext cx="7802678" cy="812974"/>
      </dsp:txXfrm>
    </dsp:sp>
    <dsp:sp modelId="{5F88A6AA-386A-4592-BF4A-A49CCC1009A6}">
      <dsp:nvSpPr>
        <dsp:cNvPr id="0" name=""/>
        <dsp:cNvSpPr/>
      </dsp:nvSpPr>
      <dsp:spPr>
        <a:xfrm>
          <a:off x="0" y="3050561"/>
          <a:ext cx="8741664" cy="8129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8928D-16BF-4991-A139-523919D7D045}">
      <dsp:nvSpPr>
        <dsp:cNvPr id="0" name=""/>
        <dsp:cNvSpPr/>
      </dsp:nvSpPr>
      <dsp:spPr>
        <a:xfrm>
          <a:off x="245924" y="3233481"/>
          <a:ext cx="447135" cy="4471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B65D3-AAC2-4F56-85EA-2C3B24550FB0}">
      <dsp:nvSpPr>
        <dsp:cNvPr id="0" name=""/>
        <dsp:cNvSpPr/>
      </dsp:nvSpPr>
      <dsp:spPr>
        <a:xfrm>
          <a:off x="938985" y="3050561"/>
          <a:ext cx="7802678" cy="812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40" tIns="86040" rIns="86040" bIns="8604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raw data, including categorical values fed into Autogluon made SHAP computation and plot very challenging.</a:t>
          </a:r>
        </a:p>
      </dsp:txBody>
      <dsp:txXfrm>
        <a:off x="938985" y="3050561"/>
        <a:ext cx="7802678" cy="812974"/>
      </dsp:txXfrm>
    </dsp:sp>
    <dsp:sp modelId="{96942B3B-47BE-456D-91B6-401E6CB30FA0}">
      <dsp:nvSpPr>
        <dsp:cNvPr id="0" name=""/>
        <dsp:cNvSpPr/>
      </dsp:nvSpPr>
      <dsp:spPr>
        <a:xfrm>
          <a:off x="0" y="4066779"/>
          <a:ext cx="8741664" cy="8129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6A2D73-6D9F-4873-9BF6-E5F9EC6E7266}">
      <dsp:nvSpPr>
        <dsp:cNvPr id="0" name=""/>
        <dsp:cNvSpPr/>
      </dsp:nvSpPr>
      <dsp:spPr>
        <a:xfrm>
          <a:off x="245924" y="4249699"/>
          <a:ext cx="447135" cy="44713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0A6CFE-339D-4FEE-BC39-1C701D710ACB}">
      <dsp:nvSpPr>
        <dsp:cNvPr id="0" name=""/>
        <dsp:cNvSpPr/>
      </dsp:nvSpPr>
      <dsp:spPr>
        <a:xfrm>
          <a:off x="938985" y="4066779"/>
          <a:ext cx="7802678" cy="812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40" tIns="86040" rIns="86040" bIns="8604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Integrated LIME and perturbation analysis plots XAI in streamlit may not be ideal for clinical deployment.</a:t>
          </a:r>
        </a:p>
      </dsp:txBody>
      <dsp:txXfrm>
        <a:off x="938985" y="4066779"/>
        <a:ext cx="7802678" cy="812974"/>
      </dsp:txXfrm>
    </dsp:sp>
    <dsp:sp modelId="{3F5DE1D7-9D4D-4154-86CD-D37BB36E2F2C}">
      <dsp:nvSpPr>
        <dsp:cNvPr id="0" name=""/>
        <dsp:cNvSpPr/>
      </dsp:nvSpPr>
      <dsp:spPr>
        <a:xfrm>
          <a:off x="0" y="5082997"/>
          <a:ext cx="8741664" cy="8129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34E4F0-388C-4916-B391-8F0F159D1645}">
      <dsp:nvSpPr>
        <dsp:cNvPr id="0" name=""/>
        <dsp:cNvSpPr/>
      </dsp:nvSpPr>
      <dsp:spPr>
        <a:xfrm>
          <a:off x="245924" y="5265916"/>
          <a:ext cx="447135" cy="44713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8DD67-2DAF-40BF-A508-928682962A54}">
      <dsp:nvSpPr>
        <dsp:cNvPr id="0" name=""/>
        <dsp:cNvSpPr/>
      </dsp:nvSpPr>
      <dsp:spPr>
        <a:xfrm>
          <a:off x="938985" y="5082997"/>
          <a:ext cx="7802678" cy="812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40" tIns="86040" rIns="86040" bIns="8604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Time constraints for robust development.</a:t>
          </a:r>
        </a:p>
      </dsp:txBody>
      <dsp:txXfrm>
        <a:off x="938985" y="5082997"/>
        <a:ext cx="7802678" cy="8129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D3F9E-A016-40C8-8DEB-C76FB7D9052C}">
      <dsp:nvSpPr>
        <dsp:cNvPr id="0" name=""/>
        <dsp:cNvSpPr/>
      </dsp:nvSpPr>
      <dsp:spPr>
        <a:xfrm>
          <a:off x="0" y="41122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Developed a good-performing, explainable CDSS for obesity-risk prdiction.</a:t>
          </a:r>
        </a:p>
      </dsp:txBody>
      <dsp:txXfrm>
        <a:off x="38981" y="80103"/>
        <a:ext cx="10437638" cy="720563"/>
      </dsp:txXfrm>
    </dsp:sp>
    <dsp:sp modelId="{D0A66C0F-C4CD-4B83-90FE-4C0EA8D6D7D8}">
      <dsp:nvSpPr>
        <dsp:cNvPr id="0" name=""/>
        <dsp:cNvSpPr/>
      </dsp:nvSpPr>
      <dsp:spPr>
        <a:xfrm>
          <a:off x="0" y="897247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Models achieved accuracy &gt;0.90 and 0.99 AUC across seven risk classes.</a:t>
          </a:r>
        </a:p>
      </dsp:txBody>
      <dsp:txXfrm>
        <a:off x="38981" y="936228"/>
        <a:ext cx="10437638" cy="720563"/>
      </dsp:txXfrm>
    </dsp:sp>
    <dsp:sp modelId="{D7526662-5A3F-46A9-990B-1C1BA2C670E8}">
      <dsp:nvSpPr>
        <dsp:cNvPr id="0" name=""/>
        <dsp:cNvSpPr/>
      </dsp:nvSpPr>
      <dsp:spPr>
        <a:xfrm>
          <a:off x="0" y="1753372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SHAP explanations and clinician-in-the-loop design enhanced transparency and reduced automation bias.</a:t>
          </a:r>
        </a:p>
      </dsp:txBody>
      <dsp:txXfrm>
        <a:off x="38981" y="1792353"/>
        <a:ext cx="10437638" cy="720563"/>
      </dsp:txXfrm>
    </dsp:sp>
    <dsp:sp modelId="{08E49EAD-25E2-49FC-BDD5-57412CD8FA5B}">
      <dsp:nvSpPr>
        <dsp:cNvPr id="0" name=""/>
        <dsp:cNvSpPr/>
      </dsp:nvSpPr>
      <dsp:spPr>
        <a:xfrm>
          <a:off x="0" y="2609497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Potential impact on targeted population:</a:t>
          </a:r>
        </a:p>
      </dsp:txBody>
      <dsp:txXfrm>
        <a:off x="38981" y="2648478"/>
        <a:ext cx="10437638" cy="720563"/>
      </dsp:txXfrm>
    </dsp:sp>
    <dsp:sp modelId="{D6DE2F49-4CC6-4FA3-B5D4-F4BA5294BD14}">
      <dsp:nvSpPr>
        <dsp:cNvPr id="0" name=""/>
        <dsp:cNvSpPr/>
      </dsp:nvSpPr>
      <dsp:spPr>
        <a:xfrm>
          <a:off x="0" y="3408022"/>
          <a:ext cx="10515600" cy="548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Earlier identification of high-risk patients.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More personalized counseling and resource allocation.</a:t>
          </a:r>
        </a:p>
      </dsp:txBody>
      <dsp:txXfrm>
        <a:off x="0" y="3408022"/>
        <a:ext cx="10515600" cy="548550"/>
      </dsp:txXfrm>
    </dsp:sp>
    <dsp:sp modelId="{B66D2A4F-BEDE-4B3B-A810-7CAEBBC7DFE5}">
      <dsp:nvSpPr>
        <dsp:cNvPr id="0" name=""/>
        <dsp:cNvSpPr/>
      </dsp:nvSpPr>
      <dsp:spPr>
        <a:xfrm>
          <a:off x="0" y="3956572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Support for population-level prevention strategies.</a:t>
          </a:r>
        </a:p>
      </dsp:txBody>
      <dsp:txXfrm>
        <a:off x="38981" y="3995553"/>
        <a:ext cx="10437638" cy="7205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AB4AD-6984-48A0-BB50-19B151DD9A3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17E0BC-23F2-40A1-825A-62E71D995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82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7E0BC-23F2-40A1-825A-62E71D99534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99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7E0BC-23F2-40A1-825A-62E71D99534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25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4801C-5C89-DE13-0516-96FF89EF1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1379F-5BA8-DBC7-566B-EA540D035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BD2B2-A8D2-21E7-0AA0-44BDAF981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2651-95EA-4B1B-8EC6-23733706E94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04B1D-7279-7380-F66C-50113ADA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193BE-C89B-65BC-BB63-E4656A3F2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7459-DA6F-427F-8AA8-257080F57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35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08C41-E55B-AC2B-1449-F8907BFE4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84396-28D0-6C90-B962-CF3CE9A3F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05A2A-82B8-5B52-61CA-05AD34F9A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2651-95EA-4B1B-8EC6-23733706E94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BBDC5-B62A-86C3-DA24-1375C3B6F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9A746-5281-3E9E-1D7D-4D2C97C65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7459-DA6F-427F-8AA8-257080F57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95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8811-BB00-DFD4-665F-AF0533899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3E308-86E2-5096-3D52-93D5AE5A4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36A7F-690E-2020-446C-DE80EDF2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2651-95EA-4B1B-8EC6-23733706E94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6FCDA-AB1E-3389-2E28-F7FADD1AE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5FE5C-2D36-98B4-7C05-D961623E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7459-DA6F-427F-8AA8-257080F57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48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F5FD1-1A95-C17B-4ECA-5C46BA4F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5A8EB-E2A3-B782-405C-7F3D131526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087EF-9A4B-5955-8734-2018D2133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679F4-F9D9-BA35-4560-1A566F063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2651-95EA-4B1B-8EC6-23733706E94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EB6FA-163A-1053-716E-841E222A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CC383-CC74-1016-BB97-F9BC3BB0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7459-DA6F-427F-8AA8-257080F57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8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0D59-331D-B51A-33FB-44D3449E8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81F98-9311-004C-466F-AB5A25F0C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E264C-54C7-8965-D27E-63B07E71C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FFC9D-6DAD-38B2-8E52-BEB2CAB4D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D14EB4-60F2-C159-E54E-638C7DB2F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E0E865-E69B-09EE-1B4F-54333ECEF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2651-95EA-4B1B-8EC6-23733706E94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C19A50-CEE9-2E7B-5A90-DFC463123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FF69E-4267-2796-6FB4-38D9D912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7459-DA6F-427F-8AA8-257080F57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1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D6538-62F2-04DD-87CD-31B716E6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EB63B-2531-A68C-32AF-C08DB603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2651-95EA-4B1B-8EC6-23733706E94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A3ABF-1181-5804-9ED2-96EBB44B8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33907-2E8B-AE50-3F06-7A6B0555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7459-DA6F-427F-8AA8-257080F57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16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3FCD2-9309-5EC5-1AC7-40E2C884D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2651-95EA-4B1B-8EC6-23733706E94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28447F-6663-0522-D731-DE421B81A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3B3BE-B15A-5774-BEF9-31745F452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7459-DA6F-427F-8AA8-257080F57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0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8C53B-1E15-71F3-0E96-2205A63EE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A2B46-C631-9A4F-9363-00E72BAD7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CE945-EEC7-6BD9-31ED-CE9BF9A98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AFE58-B9DD-86B4-D0F2-4B166C7B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2651-95EA-4B1B-8EC6-23733706E94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D6110-08F0-DA8F-A0A7-61A1721E2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FC2ED-3203-0C37-D4AB-065CABB2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7459-DA6F-427F-8AA8-257080F57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04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53876-38B4-2963-0656-5508D8ABF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27E18C-5D9E-2DAC-19F1-0439B5DE0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FFBCE-DF75-F63F-D89C-79507B9C9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F55BB-74F9-7843-A3AA-27132F8DC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2651-95EA-4B1B-8EC6-23733706E94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A083B-18CA-8D8F-D4B3-0A3085A1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53D16-8A37-538E-CB42-0EFCFDEC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7459-DA6F-427F-8AA8-257080F57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1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FA737-28CE-01BA-99FC-725A16A08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A9F12-46C6-8C13-1C5A-3EE5CD2CB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D57C7-5E8F-CACE-BF2E-24F158CF5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2651-95EA-4B1B-8EC6-23733706E94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3B0E7-5BFE-3EC0-3FB9-5E4B2E9A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CF1D3-3F9D-2565-A8D7-ADD3FBBB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7459-DA6F-427F-8AA8-257080F57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1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0F6E38-C265-9A55-E147-36E1C55E5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4FCA8-24F9-3654-1991-50F7D6A9F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7AC89-BCAB-8178-6DB0-05E0651E0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2651-95EA-4B1B-8EC6-23733706E94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3700F-3946-609D-A995-96EA65BAE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B0A0F-508A-94EA-269E-161FB445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7459-DA6F-427F-8AA8-257080F57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09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DD5551-63A6-ABE4-3922-F75DA3207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13B5E-32A0-B589-1BE2-2FC32F31E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3B1AF-05DA-0C7C-AE5C-079A02273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52651-95EA-4B1B-8EC6-23733706E94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D925B-68B1-A010-4428-A8B40F6D64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9717E-5F30-556D-359B-0D9713F95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87459-DA6F-427F-8AA8-257080F57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9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4BEFA-B8DD-8FC7-88E9-3612BCB18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DECISION SUPPORT FOR EARLY IDENTIFICATION OF OBESITY-RELATED COMPLICATION RISK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97610-0648-E8C0-7977-7B86F9B46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Group 5 – Frederick Damptey &amp; Benjamin Odoom 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Asomaning</a:t>
            </a: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b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SAT 5141 – Clinical Decision Support &amp; AI Modeling</a:t>
            </a:r>
            <a:b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Red toy person in front of two lines of white figures">
            <a:extLst>
              <a:ext uri="{FF2B5EF4-FFF2-40B4-BE49-F238E27FC236}">
                <a16:creationId xmlns:a16="http://schemas.microsoft.com/office/drawing/2014/main" id="{915BD4E3-8B37-6CF4-9993-723803BF95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02" r="25746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7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BB9660-52FF-68EB-F151-8DDFE758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D861-720C-7EAB-3F36-395579F91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Obesity is a major global public-health challenge driving T2DM, hypertension, and cardiovascular disease [1].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of high-risk individuals can reduce long-term morbidity and mortality [1], enable targeted prevention and lifestyle interventions.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Clinicians often have limited time and may under-recognize obesity risk in busy primary-care settings.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Clinical Decision Support Systems (CDSS) assist clinicians to make complex, data-rich decisions [2] using multiple patient information.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586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9C4D-7F09-2682-FEAD-C27F7C02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273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CDSS for Obesity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C55941-33EE-5594-AFD9-84D1462E55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6855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B9A94-FA09-95B0-2AD3-9DF91B728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17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and Justification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2D647E-FF9A-345B-FC56-D7EB3DF12F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72184"/>
          <a:ext cx="10515600" cy="470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542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C849-53F9-1256-C4BA-0F2F078D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84" y="9175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Obesity ML Studies - Literature Review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7C4FAC-4E80-1BEB-C735-44FFB0EDA5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17320"/>
          <a:ext cx="10515600" cy="4759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5817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7263-80C6-C420-4B29-761724A1F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417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Cont’d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91AB15-5B78-FCBB-9CC9-3B79203E53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17904"/>
          <a:ext cx="10515600" cy="4659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0065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47A50-AC07-6F33-D0A6-0B730C50A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/>
              <a:t>Aim and Objectives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A1356-3B3D-ABCC-CA7C-B626F4A29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b="1">
                <a:latin typeface="Arial" panose="020B0604020202020204" pitchFamily="34" charset="0"/>
              </a:rPr>
              <a:t>Aim:</a:t>
            </a:r>
            <a:br>
              <a:rPr lang="en-US" altLang="en-US" sz="1900">
                <a:latin typeface="Arial" panose="020B0604020202020204" pitchFamily="34" charset="0"/>
              </a:rPr>
            </a:br>
            <a:r>
              <a:rPr lang="en-US" altLang="en-US" sz="1900">
                <a:latin typeface="Arial" panose="020B0604020202020204" pitchFamily="34" charset="0"/>
              </a:rPr>
              <a:t>Build an AI-enabled CDSS that predicts obesity-related complication risk and supports clinician decision-making.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90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b="1">
                <a:latin typeface="Arial" panose="020B0604020202020204" pitchFamily="34" charset="0"/>
              </a:rPr>
              <a:t>Objectives: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900">
                <a:latin typeface="Arial" panose="020B0604020202020204" pitchFamily="34" charset="0"/>
              </a:rPr>
              <a:t>Train and validate ML models to classify patients into 7 obesity-risk categories.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900">
                <a:latin typeface="Arial" panose="020B0604020202020204" pitchFamily="34" charset="0"/>
              </a:rPr>
              <a:t>Evaluate performance using accuracy, AUC, F1-score, sensitivity, and specificity.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900">
                <a:latin typeface="Arial" panose="020B0604020202020204" pitchFamily="34" charset="0"/>
              </a:rPr>
              <a:t>Use SHAP explainability to identify key predictors and improve clinical trust.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endParaRPr lang="en-US" altLang="en-US" sz="190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900">
                <a:latin typeface="Arial" panose="020B0604020202020204" pitchFamily="34" charset="0"/>
              </a:rPr>
              <a:t>Prototype a clinician-in-the-loop Streamlit interface for real-time use.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900">
              <a:latin typeface="Arial" panose="020B0604020202020204" pitchFamily="34" charset="0"/>
            </a:endParaRP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68236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D01956-7C27-83D1-73A7-3FB3E37A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4000" b="1"/>
              <a:t>Dataset &amp; Population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1A1A2-F0A4-CE50-4B25-BD0091019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Obesity Risk Dataset from Kaggle (20,758 samples, 18 features) [6].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gender, height, weight, physical activity level, caloric intake, family history, and lifestyle behaviors.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Obesity_Risk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 obesity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weight_based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classes.</a:t>
            </a:r>
            <a:endParaRPr kumimoji="0" lang="en-US" altLang="en-US" sz="200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Insufficient_Weight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Normal_Weight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Overweight_Level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&amp; II,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Obesity_Type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I–III.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De-identified, no missing values, suitable for secondary analysis in research.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5082C8-1EF6-C8E0-1624-9EDB61B99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031" y="581892"/>
            <a:ext cx="3610216" cy="251875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diagram of weight loss&#10;&#10;AI-generated content may be incorrect.">
            <a:extLst>
              <a:ext uri="{FF2B5EF4-FFF2-40B4-BE49-F238E27FC236}">
                <a16:creationId xmlns:a16="http://schemas.microsoft.com/office/drawing/2014/main" id="{AA943969-AE89-6CD7-548F-39E71F17AF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962" y="3707894"/>
            <a:ext cx="3292491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257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1F8F4-C4A4-8CD6-6127-6E6A42552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&amp; Validation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1AE04-9AC4-FEB7-BE5D-61CC856F0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Completeness (no missing values), feature relevance, spelling.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Used tratified k-fold cross-validation to preserve class distribution and improve generalizability.</a:t>
            </a: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014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8DF3F2-5A80-49C1-2E5C-40822564A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 Pipeline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C8A7A-7A34-24D1-25F4-5A1E9E859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and exploration: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Loaded and inspected dataset structure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Defined features and target.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 (80/20)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3. AutoGluon Tabular: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model selection and stacking.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4. Evaluation: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Accuracy, AUC, F1, confusion matrix.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5. Explainability: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SHAP, local XAI and contrastive ecplanable AI to rank features and visualize impact.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6. Clinician-in-the-Loop Interface: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Streamlit tool for real-time use.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734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4F9FE2-1916-4B23-7DB3-3774DE01B9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2486" y="359229"/>
            <a:ext cx="9394371" cy="604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077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886D5D-79DD-4ACF-11B0-98B2C29C5E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DF5C5-442E-021D-89A0-1A814B095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AutoGluon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Model Details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E9B4B3-F3C0-2E03-0340-53A43DEEE3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6028018"/>
              </p:ext>
            </p:extLst>
          </p:nvPr>
        </p:nvGraphicFramePr>
        <p:xfrm>
          <a:off x="838200" y="1825624"/>
          <a:ext cx="10515600" cy="4792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5897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CF9A-D4CD-8A12-F0AE-78B80B73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086"/>
            <a:ext cx="10515600" cy="881744"/>
          </a:xfrm>
        </p:spPr>
        <p:txBody>
          <a:bodyPr>
            <a:normAutofit/>
          </a:bodyPr>
          <a:lstStyle/>
          <a:p>
            <a:r>
              <a:rPr lang="en-US" dirty="0"/>
              <a:t>Top Performing Model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2A519C-1DC6-7CCD-9AA7-075F55C8E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68830"/>
            <a:ext cx="9993086" cy="554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231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F231D1-BC06-6504-347A-7000E4CB4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5029" y="0"/>
            <a:ext cx="974271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44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85F1C0-DA27-0ED5-19B4-90B39FA50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5853" b="1387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1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98469F-7BF3-783A-3073-0223FFFE23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040" b="2369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04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282A31-BDA6-5872-1205-B144BBD5C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7128" y="457200"/>
            <a:ext cx="893774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82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95356-B3E3-82F2-0552-DF3C5C9DF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CDSS Prototype &amp; Clinical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FAD9D-9408-5AC0-1549-DA3CD6DC7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 clinician-in-the-loop interface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Input - case.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Output - CDSS returns predicted obesity-risk class + XAI explanation.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Feedback - Clinician 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accept, reject or override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suggestion and assign reason if necessary.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- Justification text and timestamps logged for auditability.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755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68221-C5EB-8675-F8B1-CC01BC086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B1A7EA-0530-14E5-DA1A-939DD25B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CDSS Prototype &amp; Clinical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C5F21-1325-60B4-9E87-1DB352124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Data are de-identified; no direct patient identifiers [6].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Aligns with key principles from HIPAA deidentification stipulations and healthcare AI guidelines.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SHAP explanations and clinician-override logs.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CDSS is designed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not replace, clinician judgment [2].</a:t>
            </a:r>
          </a:p>
        </p:txBody>
      </p:sp>
    </p:spTree>
    <p:extLst>
      <p:ext uri="{BB962C8B-B14F-4D97-AF65-F5344CB8AC3E}">
        <p14:creationId xmlns:p14="http://schemas.microsoft.com/office/powerpoint/2010/main" val="876783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F04A2-1009-BB76-36E2-5EFD399A3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631"/>
            <a:ext cx="10515600" cy="631369"/>
          </a:xfrm>
        </p:spPr>
        <p:txBody>
          <a:bodyPr>
            <a:normAutofit fontScale="90000"/>
          </a:bodyPr>
          <a:lstStyle/>
          <a:p>
            <a:r>
              <a:rPr lang="en-US" dirty="0"/>
              <a:t>Prototype &amp; Clinical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38D403-D07F-D5A7-E294-9BAE96175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950976"/>
            <a:ext cx="10515600" cy="5907024"/>
          </a:xfrm>
          <a:prstGeom prst="rect">
            <a:avLst/>
          </a:prstGeom>
        </p:spPr>
      </p:pic>
      <p:pic>
        <p:nvPicPr>
          <p:cNvPr id="9" name="Picture 8" descr="A screenshot of a test&#10;&#10;AI-generated content may be incorrect.">
            <a:extLst>
              <a:ext uri="{FF2B5EF4-FFF2-40B4-BE49-F238E27FC236}">
                <a16:creationId xmlns:a16="http://schemas.microsoft.com/office/drawing/2014/main" id="{B53EBF24-16FE-F42B-DE04-BA71EBF0F0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88" y="950976"/>
            <a:ext cx="11393424" cy="566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59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76DB-2A84-0AAA-E58A-DF715757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625900-918B-4725-B2D4-D9109198B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915" y="152400"/>
            <a:ext cx="6868885" cy="3592286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5F5E93B4-8F18-0D51-9CA3-7D2464031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086" y="283029"/>
            <a:ext cx="5867400" cy="5797095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FCB5C278-13A6-A1DA-21B7-0353D0DBE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429000"/>
            <a:ext cx="4735286" cy="314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36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06CE2-3656-3207-F003-553179573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9243B8-6605-AEA0-A0FC-8B502BC31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458" y="239486"/>
            <a:ext cx="4876800" cy="6509657"/>
          </a:xfrm>
          <a:prstGeom prst="rect">
            <a:avLst/>
          </a:prstGeo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877467AF-0057-78D9-184C-2FDBB5035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65125"/>
            <a:ext cx="5921829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431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03480-D306-75E9-D081-1429E5DB8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896" y="174054"/>
            <a:ext cx="8229600" cy="566610"/>
          </a:xfrm>
        </p:spPr>
        <p:txBody>
          <a:bodyPr>
            <a:normAutofit fontScale="90000"/>
          </a:bodyPr>
          <a:lstStyle/>
          <a:p>
            <a:r>
              <a:rPr lang="en-US" dirty="0"/>
              <a:t>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86643D-0105-7688-A419-D07B332132F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61160" y="859536"/>
          <a:ext cx="8741664" cy="5897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3092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01A9-D729-E633-2501-8FC03503B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9CE6FD-DAB7-00FD-4153-C4CA29C2F1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380744"/>
          <a:ext cx="10515600" cy="4796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0933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5B3C4-8F16-9156-6F5C-E3CB11E7C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99D51-1955-CAF4-18D3-46F61F2B0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820400" cy="5285231"/>
          </a:xfrm>
        </p:spPr>
        <p:txBody>
          <a:bodyPr>
            <a:noAutofit/>
          </a:bodyPr>
          <a:lstStyle/>
          <a:p>
            <a:pPr marL="514350" lvl="0" indent="-51435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C. Whitlock, L. M. Williams, and D. M. Colditz, “Obesity as a global public health challenge: Epidemiology, risk factors, and prevention,” </a:t>
            </a:r>
            <a:r>
              <a:rPr lang="en-US" alt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Lancet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387, no. 10026, pp. 231–243, 2016.</a:t>
            </a:r>
          </a:p>
          <a:p>
            <a:pPr marL="514350" lvl="0" indent="-51435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H. </a:t>
            </a:r>
            <a:r>
              <a:rPr lang="en-US" alt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Shortliffe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 J. Sepúlveda, “Clinical decision support in the era of artificial intelligence,” </a:t>
            </a:r>
            <a:r>
              <a:rPr lang="en-US" alt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JAMA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320, no. 21, pp. 2199–2200, 2018.</a:t>
            </a:r>
          </a:p>
          <a:p>
            <a:pPr marL="514350" lvl="0" indent="-51435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</a:t>
            </a:r>
            <a:r>
              <a:rPr lang="en-US" alt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Helforoush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H. Sayyad, “Prediction and classification of obesity risk based on a hybrid metaheuristic machine learning approach,” </a:t>
            </a:r>
            <a:r>
              <a:rPr lang="en-US" alt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Big Data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514350" lvl="0" indent="-51435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Shen et al., “Visualization obesity risk prediction system based on machine learning techniques,” </a:t>
            </a:r>
            <a:r>
              <a:rPr lang="en-US" alt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514350" lvl="0" indent="-51435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Lee et al., “A machine learning model for predicting obesity risk in patients with T2DM using health survey data,” </a:t>
            </a:r>
            <a:r>
              <a:rPr lang="en-US" alt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&amp; Metabolism Journal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514350" lvl="0" indent="-51435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P. Kochar, “Obesity Risk Dataset,” Kaggle, 2024.</a:t>
            </a:r>
          </a:p>
          <a:p>
            <a:pPr marL="514350" lvl="0" indent="-51435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T. Nguyen, H. T. Vo, and T. M. Le, “Artificial intelligence applications in obesity prediction: A systematic review,” </a:t>
            </a:r>
            <a:r>
              <a:rPr lang="en-US" alt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Analytics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5, no. 2, pp. 101–118, 2023.</a:t>
            </a:r>
          </a:p>
          <a:p>
            <a:pPr marL="514350" lvl="0" indent="-51435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Esteva et al., “A guide to deep learning in healthcare,” </a:t>
            </a:r>
            <a:r>
              <a:rPr lang="en-US" alt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Medicine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25, no. 1, pp. 24–29, 2019.</a:t>
            </a:r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473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8A0C7-AAE6-F346-B9D0-13A000F3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0863" y="3287486"/>
            <a:ext cx="5846079" cy="22774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9600" b="1" i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468FB00A-5864-F015-AF22-9B4040083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62629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13BFB44-0ED4-4B9E-B7CE-84996ACA3D13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1252</Words>
  <Application>Microsoft Office PowerPoint</Application>
  <PresentationFormat>Widescreen</PresentationFormat>
  <Paragraphs>126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Times New Roman</vt:lpstr>
      <vt:lpstr>Wingdings</vt:lpstr>
      <vt:lpstr>Office Theme</vt:lpstr>
      <vt:lpstr>CLINICAL DECISION SUPPORT FOR EARLY IDENTIFICATION OF OBESITY-RELATED COMPLICATION RISK</vt:lpstr>
      <vt:lpstr>Background &amp; Motivation</vt:lpstr>
      <vt:lpstr>AI &amp; CDSS for Obesity</vt:lpstr>
      <vt:lpstr>Population and Justification</vt:lpstr>
      <vt:lpstr>Prior Obesity ML Studies - Literature Review</vt:lpstr>
      <vt:lpstr>Literature Review Cont’d</vt:lpstr>
      <vt:lpstr>Aim and Objectives</vt:lpstr>
      <vt:lpstr>Dataset &amp; Population</vt:lpstr>
      <vt:lpstr>Data Quality &amp; Validation</vt:lpstr>
      <vt:lpstr>Modeling Pipeline Overview</vt:lpstr>
      <vt:lpstr>PowerPoint Presentation</vt:lpstr>
      <vt:lpstr>AutoGluon &amp; Model Details</vt:lpstr>
      <vt:lpstr>Top Performing Model Performance</vt:lpstr>
      <vt:lpstr>PowerPoint Presentation</vt:lpstr>
      <vt:lpstr>PowerPoint Presentation</vt:lpstr>
      <vt:lpstr>PowerPoint Presentation</vt:lpstr>
      <vt:lpstr>PowerPoint Presentation</vt:lpstr>
      <vt:lpstr>CDSS Prototype &amp; Clinical Workflow</vt:lpstr>
      <vt:lpstr>CDSS Prototype &amp; Clinical Workflow</vt:lpstr>
      <vt:lpstr>Prototype &amp; Clinical Workflow</vt:lpstr>
      <vt:lpstr>PowerPoint Presentation</vt:lpstr>
      <vt:lpstr>PowerPoint Presentation</vt:lpstr>
      <vt:lpstr>Challenges</vt:lpstr>
      <vt:lpstr>Conclusions &amp; Impact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Frederick Damptey</dc:creator>
  <cp:lastModifiedBy>benjamin asomaning odoom</cp:lastModifiedBy>
  <cp:revision>5</cp:revision>
  <dcterms:created xsi:type="dcterms:W3CDTF">2025-12-05T05:44:56Z</dcterms:created>
  <dcterms:modified xsi:type="dcterms:W3CDTF">2025-12-05T15:51:47Z</dcterms:modified>
</cp:coreProperties>
</file>